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59" r:id="rId5"/>
    <p:sldId id="267" r:id="rId6"/>
    <p:sldId id="260" r:id="rId7"/>
    <p:sldId id="261" r:id="rId8"/>
    <p:sldId id="262" r:id="rId9"/>
    <p:sldId id="263" r:id="rId10"/>
    <p:sldId id="266" r:id="rId11"/>
    <p:sldId id="264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1148A8B-D18B-42DA-9048-CC8C35A61AAD}">
          <p14:sldIdLst>
            <p14:sldId id="256"/>
            <p14:sldId id="257"/>
            <p14:sldId id="265"/>
            <p14:sldId id="259"/>
            <p14:sldId id="267"/>
            <p14:sldId id="260"/>
            <p14:sldId id="261"/>
            <p14:sldId id="262"/>
            <p14:sldId id="263"/>
            <p14:sldId id="266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270" autoAdjust="0"/>
  </p:normalViewPr>
  <p:slideViewPr>
    <p:cSldViewPr snapToGrid="0">
      <p:cViewPr varScale="1">
        <p:scale>
          <a:sx n="90" d="100"/>
          <a:sy n="90" d="100"/>
        </p:scale>
        <p:origin x="90" y="23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37:09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396 415 24575,'-1'2'0,"1"1"0,-1-1 0,1 0 0,-1 0 0,0 1 0,0-1 0,0 0 0,0 0 0,-1 0 0,1 0 0,0 0 0,-1-1 0,-2 4 0,-27 23 0,23-21 0,-30 24 0,27-23 0,1 0 0,0 0 0,0 1 0,1 0 0,0 0 0,0 1 0,2 1 0,-1-1 0,-7 15 0,-24 57 0,23-53 0,9-15 0,20-30 0,28-38 0,2 2 0,77-73 0,-110 114 0,-1 0 0,0 0 0,-1-1 0,0 0 0,10-21 0,14-21 0,-23 38 0,-6 10 0,-7 13 0,-10 18 0,1 1 0,-16 47 0,-11 22 0,-59 108 0,96-194 0,4-6 0,12-14 0,19-24 0,-31 34 0,19-26 0,-1-1 0,-1 0 0,20-44 0,-33 61 0,-17 24 0,-23 30 0,32-37 0,-1-1 0,0 1 0,0-1 0,-1 1 0,0-1 0,1-1 0,-2 1 0,1-1 0,0 0 0,-8 5 0,12-9 0,1 0 0,-1 1 0,0-1 0,1 0 0,-1 1 0,0-1 0,0 0 0,1 0 0,-1 1 0,0-1 0,0 0 0,0 0 0,1 0 0,-1 0 0,0 0 0,0 0 0,0 0 0,1-1 0,-1 1 0,0 0 0,0 0 0,1-1 0,-1 1 0,0 0 0,0-1 0,1 1 0,-1 0 0,0-1 0,0 0 0,0-1 0,0 1 0,0-1 0,1 1 0,-1-1 0,0 1 0,1-1 0,-1 0 0,1 1 0,0-1 0,0 0 0,0 0 0,-1 1 0,2-3 0,-1-3 0,1 0 0,0-1 0,0 1 0,0 0 0,5-12 0,6-4 0,1 1 0,1 0 0,19-23 0,-16 24 0,-2 0 0,25-48 0,-34 58 0,0-1 0,14-18 0,-17 30 0,-4 9 0,-2 12 0,-88 296 0,91-316 0,0-1 0,-1 1 0,1-1 0,0 1 0,-1-1 0,1 1 0,0-1 0,0 1 0,-1-1 0,1 1 0,0-1 0,0 1 0,0 0 0,0-1 0,0 1 0,0-1 0,0 1 0,0-1 0,0 1 0,0 0 0,0-1 0,0 1 0,0-1 0,0 1 0,0-1 0,1 1 0,-1-1 0,0 1 0,0-1 0,1 2 0,14-13 0,16-27 0,31-33 0,-62 71 0,1 0 0,-1-1 0,1 1 0,-1-1 0,1 1 0,-1-1 0,0 1 0,1-1 0,-1 1 0,0-1 0,1 0 0,-1 1 0,0-1 0,0 1 0,1-1 0,-1 0 0,0 1 0,0-1 0,0 0 0,0 1 0,0-1 0,0 0 0,0 1 0,0-2 0,-13-3 0,9 5 0,0 0 0,0 0 0,-1 1 0,1 0 0,0 0 0,-7 2 0,-12 9 0,16-8 0,0 0 0,-1 0 0,-14 4 0,21-8 0,1 1 0,0-1 0,-1 0 0,1 0 0,-1 0 0,1 0 0,0 0 0,-1 0 0,1 0 0,0 0 0,-1 0 0,1 0 0,-1 0 0,1 0 0,0 0 0,-1-1 0,1 1 0,0 0 0,-1 0 0,1 0 0,0 0 0,-1-1 0,1 1 0,0 0 0,-1 0 0,1-1 0,0 1 0,0 0 0,-1-1 0,1 1 0,0 0 0,0-1 0,0 1 0,-1-1 0,0-16 0,9-19 0,-8 35 0,87-240 0,-66 196 0,-17 41 0,-1-1 0,0 0 0,0 0 0,-1 0 0,0-1 0,0 1 0,0 0 0,0-1 0,-1 0 0,0 1 0,0-1 0,-1 0 0,1 1 0,-1-8 0,0 13 0,0-1 0,0 1 0,-1 0 0,1 0 0,0-1 0,0 1 0,0 0 0,0 0 0,0-1 0,0 1 0,0 0 0,0 0 0,-1 0 0,1-1 0,0 1 0,0 0 0,0 0 0,-1 0 0,1-1 0,0 1 0,0 0 0,0 0 0,-1 0 0,1 0 0,0 0 0,0 0 0,-1 0 0,1 0 0,0-1 0,0 1 0,-1 0 0,1 0 0,0 0 0,0 0 0,-1 0 0,1 0 0,0 0 0,0 0 0,-1 0 0,1 1 0,0-1 0,-1 0 0,-12 10 0,-10 18 0,-34 68 0,-75 108 0,61-120 0,63-75 0,-1 0 0,0-1 0,-1 0 0,0-1 0,0 0 0,-20 9 0,28-15 0,1-1 0,0 1 0,0 0 0,0-1 0,-1 0 0,1 1 0,0-1 0,-1 0 0,1 1 0,0-1 0,-1 0 0,1 0 0,-1 0 0,1 0 0,0 0 0,-1-1 0,-1 1 0,2-1 0,1 1 0,-1-1 0,1 1 0,-1-1 0,1 1 0,-1-1 0,1 0 0,0 1 0,-1-1 0,1 1 0,0-1 0,-1 0 0,1 1 0,0-1 0,0 0 0,0 1 0,0-1 0,0 0 0,0 1 0,0-1 0,0 0 0,0 1 0,0-1 0,0-1 0,2-5 0,-1 0 0,2 0 0,-1-1 0,6-10 0,36-67 0,56-83 0,-33 61 0,-53 86 0,15-23 0,-28 42 0,0 0 0,0-1 0,0 1 0,0 0 0,0 0 0,0 0 0,-1 0 0,1-1 0,-1 1 0,0 0 0,1-1 0,-1 1 0,0 0 0,0-1 0,0 1 0,-1-3 0,1 5 0,-1 0 0,1-1 0,0 1 0,0 0 0,0 0 0,-1-1 0,1 1 0,0 0 0,0 0 0,-1 0 0,1-1 0,0 1 0,-1 0 0,1 0 0,0 0 0,0 0 0,-1 0 0,1 0 0,0 0 0,-1-1 0,1 1 0,0 0 0,-1 0 0,1 0 0,0 0 0,-1 0 0,1 1 0,0-1 0,-1 0 0,1 0 0,0 0 0,0 0 0,-1 0 0,1 0 0,0 0 0,-1 1 0,1-1 0,0 0 0,0 0 0,-1 0 0,1 1 0,0-1 0,0 0 0,0 0 0,-1 1 0,1-1 0,0 0 0,0 0 0,0 1 0,0-1 0,-1 1 0,-12 16 0,12-16 0,-60 90 0,13-18 0,-73 85 0,82-122 0,38-34 0,-1-1 0,1 0 0,-1 1 0,1-1 0,-1 0 0,0 0 0,1 0 0,-1 0 0,0-1 0,0 1 0,0 0 0,0-1 0,1 1 0,-1-1 0,0 0 0,0 0 0,0 0 0,0 0 0,0 0 0,0 0 0,0 0 0,0 0 0,-2-1 0,3 0 0,0 0 0,0 0 0,1 0 0,-1 0 0,0 0 0,1 0 0,-1 0 0,0 0 0,1 0 0,0 0 0,-1 0 0,1 0 0,-1 0 0,1 0 0,0 0 0,0 0 0,0-1 0,0 1 0,0 0 0,0 0 0,0 0 0,0 0 0,0 0 0,0-1 0,1 1 0,-1 0 0,1-1 0,12-34 0,-12 34 0,18-33 0,0 1 0,27-33 0,4-8 0,66-104 0,-105 154 0,-11 16 0,-10 14 0,-11 16 0,1 1 0,1 1 0,-24 36 0,23-28 0,-45 49 0,36-51-1365,17-18-5461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0:37:18.9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974 856 24575,'2'-9'0,"0"-1"0,0 1 0,1 0 0,0 0 0,0 0 0,1 0 0,1 1 0,-1-1 0,1 1 0,7-8 0,3-9 0,161-240 0,-104 162 0,-71 101 0,1 1 0,-1-1 0,0 0 0,0 0 0,0 0 0,0 0 0,0 0 0,-1-1 0,1 1 0,0 0 0,-1 0 0,0 0 0,0-1 0,1 1 0,-1 0 0,-1-3 0,1 5 0,0 0 0,0-1 0,0 1 0,0-1 0,-1 1 0,1 0 0,0-1 0,0 1 0,-1 0 0,1-1 0,0 1 0,0 0 0,-1 0 0,1-1 0,0 1 0,-1 0 0,1 0 0,0-1 0,-1 1 0,1 0 0,0 0 0,-1 0 0,1 0 0,-1 0 0,1 0 0,0-1 0,-1 1 0,1 0 0,-1 0 0,0 0 0,-1 1 0,0-1 0,0 1 0,1-1 0,-1 1 0,0 0 0,0 0 0,0-1 0,0 1 0,1 1 0,-3 0 0,-9 9 0,0-1 0,1 2 0,1-1 0,0 2 0,0 0 0,-15 25 0,-45 91 0,69-125 0,-85 207 0,39-84 0,36-98 0,5-8 0,-2-1 0,-13 22 0,13-27 0,1 0 0,0 0 0,1 1 0,1 0 0,0 0 0,1 0 0,-4 29 0,7-37 0,0 0 0,0 1 0,-1-1 0,0 0 0,0 0 0,-1-1 0,0 1 0,0-1 0,-1 0 0,0 0 0,0 0 0,-1 0 0,0-1 0,-12 11 0,17-17 0,1 0 0,-1 1 0,1-1 0,-1 0 0,1 1 0,-1-1 0,0 0 0,1 0 0,-1 0 0,1 0 0,-1 1 0,0-1 0,1 0 0,-1 0 0,0 0 0,1 0 0,-1 0 0,0 0 0,1-1 0,-1 1 0,0 0 0,1 0 0,-1 0 0,1-1 0,-1 1 0,1 0 0,-1 0 0,0-1 0,1 1 0,-1-1 0,1 1 0,-1 0 0,1-1 0,0 1 0,-1-1 0,1 1 0,-1-1 0,1 1 0,0-1 0,-1 0 0,1 1 0,0-1 0,0 1 0,0-1 0,-1 0 0,1 1 0,0-1 0,0 0 0,0 1 0,0-1 0,0 1 0,0-1 0,0-1 0,-2-38 0,8-15 0,3 0 0,2 1 0,33-97 0,-36 125 0,95-239 0,-43 121 0,-6-8 0,-37 94 0,-13 40 0,1 1 0,1 0 0,0 0 0,10-16 0,3 1 0,-11 21 0,-1-1 0,-1 0 0,0 0 0,6-15 0,-12 27 0,0 0 0,0 0 0,0 0 0,0 0 0,1-1 0,-1 1 0,0 0 0,0 0 0,0 0 0,0-1 0,0 1 0,0 0 0,1 0 0,-1 0 0,0-1 0,0 1 0,0 0 0,0 0 0,0-1 0,0 1 0,0 0 0,0 0 0,0 0 0,0-1 0,0 1 0,0 0 0,0 0 0,0-1 0,0 1 0,0 0 0,-1 0 0,1 0 0,0-1 0,0 1 0,0 0 0,0 0 0,0 0 0,0-1 0,-1 1 0,1 0 0,0 0 0,0 0 0,0 0 0,0 0 0,-1-1 0,1 1 0,0 0 0,0 0 0,0 0 0,-1 0 0,1 0 0,0 0 0,0 0 0,-1 0 0,1 0 0,0 0 0,0 0 0,0 0 0,-1 0 0,-17 11 0,-18 22 0,13-8 0,-90 89 0,91-91 0,1 1 0,1 2 0,2 0 0,-26 46 0,23-37 0,-77 128 0,-16 6 0,90-135 0,23-32 0,-14 17 0,8-17 0,6-11 0,2 1 0,1 1 0,1 0 0,-1 0 0,1 0 0,1 1 0,-1-1 0,1 1 0,8-11 0,6-10 0,72-132 0,-3 10 0,-69 118 0,26-62 0,-39 77 0,0 0 0,-1 0 0,0-1 0,-1 1 0,-1-1 0,0-20 0,-2 8 0,-3-74 0,3 102 0,1-1 0,-1 1 0,0 0 0,0 0 0,0 0 0,-1 0 0,1-1 0,0 1 0,0 0 0,-1 0 0,1 0 0,-1 0 0,1 0 0,-1 0 0,1 0 0,-1 0 0,1 0 0,-1 0 0,0 0 0,0 0 0,0 0 0,1 0 0,-1 0 0,0 1 0,-2-2 0,2 2 0,-1 0 0,1 0 0,0 1 0,0-1 0,-1 0 0,1 1 0,0-1 0,0 1 0,-1-1 0,1 1 0,0 0 0,0-1 0,0 1 0,0 0 0,0 0 0,0 0 0,0 0 0,-1 2 0,-7 7 0,0 2 0,-13 23 0,-8 21 0,-37 98 0,-7 69 0,-21 49 0,70-208 0,-54 117 0,68-160 0,-1 0 0,-1-1 0,-1 0 0,-1-1 0,-1-1 0,-18 17 0,22-23 0,18-18 0,19-18 0,-19 17 0,0-1 0,-1 0 0,0 0 0,-1 0 0,0 0 0,0-1 0,-1 0 0,0 0 0,0 0 0,-1 0 0,0 0 0,-1-1 0,0 1 0,0-15 0,5-24 0,2 1 0,3 0 0,19-56 0,8-32 0,-1 4 0,-24 95 0,-3 0 0,0 0 0,-3-2 0,-1 1 0,2-48 0,-7 49 0,0 24 0,0-1 0,-1 1 0,-1-1 0,0 1 0,0 0 0,-5-16 0,6 26 0,-1 0 0,0 1 0,0-1 0,0 1 0,0-1 0,0 1 0,0 0 0,0-1 0,-1 1 0,1 0 0,0 0 0,-1 0 0,1 0 0,-1 0 0,0 0 0,1 0 0,-1 0 0,1 0 0,-1 1 0,0-1 0,0 1 0,1-1 0,-1 1 0,0 0 0,0 0 0,0 0 0,1 0 0,-3 0 0,-8 1 0,1 0 0,0 1 0,-18 5 0,-2 0 0,3-4 0,-38-2 0,-9 0 0,71 0 0,-1 0 0,1 0 0,0 0 0,0 1 0,0 0 0,0-1 0,0 1 0,0 1 0,-4 2 0,4-2 0,0 0 0,-1-1 0,0 1 0,1-1 0,-1 0 0,-8 2 0,-17-2 0,24-1 0,0-1 0,0 0 0,0 1 0,1 0 0,-11 3 0,15-3 0,-1 0 0,0 0 0,1 0 0,-1 0 0,1 0 0,-1 0 0,1 1 0,-1-1 0,1 0 0,0 1 0,0-1 0,-1 1 0,1-1 0,0 1 0,1 0 0,-1-1 0,0 1 0,0 0 0,1 0 0,-1 0 0,1-1 0,-1 3 0,-2 17 0,2-1 0,0 1 0,4 40 0,0-5 0,-3-41 0,2 0 0,0 1 0,0-1 0,1 0 0,1 0 0,1 0 0,0-1 0,1 1 0,11 19 0,-14-27 0,1 0 0,-2 0 0,1 0 0,-1 0 0,0 1 0,-1-1 0,1 1 0,-1 11 0,-2 67 0,-1-39 0,2 0 0,1-24 0,-1-1 0,-1 0 0,0 0 0,-2 0 0,-7 27 0,9-46 0,-1 1 0,0 0 0,0-1 0,0 1 0,0-1 0,0 0 0,-1 1 0,0-1 0,1 0 0,-1-1 0,0 1 0,-1 0 0,1-1 0,0 0 0,-1 0 0,1 0 0,-1 0 0,-4 2 0,6-4 0,0 1 0,1-1 0,-1 1 0,1-1 0,-1 0 0,0 0 0,0 1 0,1-1 0,-1 0 0,0-1 0,1 1 0,-1 0 0,0 0 0,1-1 0,-1 1 0,0-1 0,1 1 0,-1-1 0,1 0 0,-1 1 0,1-1 0,-1 0 0,1 0 0,0 0 0,-1 0 0,1-1 0,0 1 0,0 0 0,0 0 0,0-1 0,0 1 0,0-1 0,0 1 0,0-1 0,1 1 0,-1-1 0,0 1 0,1-1 0,0 0 0,-1 1 0,1-1 0,0 0 0,0 1 0,0-3 0,-4-69-1365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A9BA4B-9569-4A43-8973-54E06EEB7C6B}" type="datetimeFigureOut">
              <a:rPr lang="en-IL" smtClean="0"/>
              <a:t>06/19/2026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3FEEA-28D0-4995-B543-F79997D048E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3536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3FEEA-28D0-4995-B543-F79997D048EE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781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בשקופית הזאת ניתן לראות את הארכיטקטורה הכללית של המערכת.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המשתמש ניגש לאתר דרך הדפדפן.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Burp Suite 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כל הבקשות עוברות דרך</a:t>
            </a:r>
            <a:endParaRPr lang="he-IL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שמאפשר לנו ליירט, לשנות ולבדוק את ,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התקשורת בין המשתמש לשרת.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Flask 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השרת עצמו מבוסס על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וכולל גם גרסה פגיעה וגם גרסה מאובטחת של המערכת. השרת מטפל בבקשות המשתמש, מעבד את הקלט ומתקשר עם מסד הנתונים.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במסד הנתונים נשמרים המשתמשים, התגובות והמידע הרגיש המשמש את תרחישי ההתקפה.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Wireshark , 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במקביל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משמש ללכידת וניתוח תעבורת הרשת כדי להבין כיצד ההתקפות נראות ברמת התקשורת. </a:t>
            </a:r>
            <a:b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לבסוף, בצד ימין למטה ניתן לראות את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מנגנוני ההגנה שנפעיל במצב המאובטח, כולל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Input Validation,</a:t>
            </a:r>
            <a:endParaRPr lang="he-IL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.Parameterized Queries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־ ו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Output Sanitization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באמצעות הארכיטקטורה הזאת נוכל להדגים את ההתקפות, לנתח אותן ולבדוק כיצד מנגנוני ההגנה מצליחים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לחסום אותן."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3FEEA-28D0-4995-B543-F79997D048EE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91154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"בשקופית הזאת מוצגות הטכנולוגיות שבהן נשתמש בפרויקט.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Flask 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באמצעות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 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המערכת תפותח בשפת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שיאפשר לנו לבנות את צד השרת ואת מנגנוני האבטחה. 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בצד הלקוח נשתמש ב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CSS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־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JavaScript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־ ו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HTML, </a:t>
            </a:r>
            <a:endParaRPr lang="he-IL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כדי לבנות את ממשק המשתמש.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he-IL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 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או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SQLite 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המידע יישמר במסד נתונים מסוג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requests 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בנוסף נשתמש במספר ספריות כמו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לצורך ניהול הנתונים והתקשורת.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werkzeug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־ ו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sqlite3,</a:t>
            </a:r>
            <a:endParaRPr lang="he-IL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Burp Suite</a:t>
            </a: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־ לצורך בדיקות אבטחה נשתמש ב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־ לביצוע וניתוח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התקפות</a:t>
            </a:r>
            <a:b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לניתוח תעבורת הרשת. 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Wireshark</a:t>
            </a:r>
            <a:endParaRPr lang="he-IL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־ בחרנו בטכנולוגיות האלו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משום שהן פשוטות יחסית למימוש, נפוצות מאוד בעולם ה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 ומתאימות ,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 Security</a:t>
            </a:r>
            <a:endParaRPr lang="he-IL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להדגמת התקפות והגנות בצורה ברורה."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3FEEA-28D0-4995-B543-F79997D048EE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72376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הנחות והמגבלות של </a:t>
            </a:r>
            <a:r>
              <a:rPr lang="he-IL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הפרויק</a:t>
            </a:r>
            <a:endParaRPr lang="he-IL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אנחנו מניחים שהמערכת פועלת בסביבה מקומית ומבוקרת,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כאשר המשתמשים והתוקף ניגשים אליה באמצעות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דפדפן רגיל.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מבחינת מגבלות, הפרויקט מפותח במסגרת זמן מוגבלת במהלך הסמסטר, וכל ההתקפות מיועדות למטרות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לימוד והדגמה בלבד.</a:t>
            </a:r>
          </a:p>
          <a:p>
            <a:r>
              <a:rPr lang="he-IL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בנוסף, המערכת לא תהיה חשופה לאינטרנט הציבורי, אלא תפעל בסביבת מעבדה בטוחה ומבוקרת."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3FEEA-28D0-4995-B543-F79997D048EE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77231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6;p14"/>
          <p:cNvSpPr/>
          <p:nvPr/>
        </p:nvSpPr>
        <p:spPr>
          <a:xfrm>
            <a:off x="118440" y="146520"/>
            <a:ext cx="8907120" cy="119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20000" y="45612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347920" y="830160"/>
            <a:ext cx="44478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Google Shape;106;p17"/>
          <p:cNvSpPr/>
          <p:nvPr/>
        </p:nvSpPr>
        <p:spPr>
          <a:xfrm>
            <a:off x="435600" y="3666960"/>
            <a:ext cx="8272440" cy="1044360"/>
          </a:xfrm>
          <a:prstGeom prst="roundRect">
            <a:avLst>
              <a:gd name="adj" fmla="val 17679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107;p17"/>
          <p:cNvSpPr/>
          <p:nvPr/>
        </p:nvSpPr>
        <p:spPr>
          <a:xfrm>
            <a:off x="2099160" y="371016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Funnel Sans"/>
                <a:ea typeface="Funnel Sans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108;p17"/>
          <p:cNvSpPr/>
          <p:nvPr/>
        </p:nvSpPr>
        <p:spPr>
          <a:xfrm>
            <a:off x="435600" y="557640"/>
            <a:ext cx="8272440" cy="2968920"/>
          </a:xfrm>
          <a:prstGeom prst="roundRect">
            <a:avLst>
              <a:gd name="adj" fmla="val 7654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9080" y="1719360"/>
            <a:ext cx="6339960" cy="212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469080" y="487080"/>
            <a:ext cx="118224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2"/>
                </a:solidFill>
                <a:effectLst/>
                <a:uFillTx/>
                <a:latin typeface="Manrope"/>
                <a:ea typeface="Manrop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458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Google Shape;28;p6"/>
          <p:cNvSpPr/>
          <p:nvPr/>
        </p:nvSpPr>
        <p:spPr>
          <a:xfrm>
            <a:off x="136080" y="132480"/>
            <a:ext cx="8871840" cy="4952520"/>
          </a:xfrm>
          <a:prstGeom prst="roundRect">
            <a:avLst>
              <a:gd name="adj" fmla="val 5521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601920"/>
            <a:ext cx="4728240" cy="140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28;p24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" name="Google Shape;129;p24"/>
          <p:cNvGrpSpPr/>
          <p:nvPr/>
        </p:nvGrpSpPr>
        <p:grpSpPr>
          <a:xfrm>
            <a:off x="228600" y="257760"/>
            <a:ext cx="8672400" cy="4627799"/>
            <a:chOff x="228600" y="257760"/>
            <a:chExt cx="8672400" cy="4627799"/>
          </a:xfrm>
        </p:grpSpPr>
        <p:sp>
          <p:nvSpPr>
            <p:cNvPr id="21" name="Google Shape;130;p24"/>
            <p:cNvSpPr/>
            <p:nvPr/>
          </p:nvSpPr>
          <p:spPr>
            <a:xfrm>
              <a:off x="2050200" y="257760"/>
              <a:ext cx="6850800" cy="3777120"/>
            </a:xfrm>
            <a:prstGeom prst="roundRect">
              <a:avLst>
                <a:gd name="adj" fmla="val 7195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131;p24"/>
            <p:cNvSpPr/>
            <p:nvPr/>
          </p:nvSpPr>
          <p:spPr>
            <a:xfrm>
              <a:off x="2050200" y="4174560"/>
              <a:ext cx="6850800" cy="710640"/>
            </a:xfrm>
            <a:prstGeom prst="roundRect">
              <a:avLst>
                <a:gd name="adj" fmla="val 24504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3" name="Google Shape;132;p24"/>
            <p:cNvGrpSpPr/>
            <p:nvPr/>
          </p:nvGrpSpPr>
          <p:grpSpPr>
            <a:xfrm>
              <a:off x="228600" y="3638038"/>
              <a:ext cx="1734838" cy="1247521"/>
              <a:chOff x="228600" y="3638038"/>
              <a:chExt cx="1734838" cy="1247521"/>
            </a:xfrm>
          </p:grpSpPr>
          <p:sp>
            <p:nvSpPr>
              <p:cNvPr id="24" name="Google Shape;133;p24"/>
              <p:cNvSpPr/>
              <p:nvPr/>
            </p:nvSpPr>
            <p:spPr>
              <a:xfrm>
                <a:off x="228600" y="3638038"/>
                <a:ext cx="1734838" cy="1247521"/>
              </a:xfrm>
              <a:prstGeom prst="roundRect">
                <a:avLst>
                  <a:gd name="adj" fmla="val 13823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134;p24"/>
              <p:cNvSpPr/>
              <p:nvPr/>
            </p:nvSpPr>
            <p:spPr>
              <a:xfrm>
                <a:off x="313560" y="3798360"/>
                <a:ext cx="1494000" cy="23652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9525">
                <a:solidFill>
                  <a:srgbClr val="00FFA4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520" bIns="83520" anchor="ctr">
                <a:noAutofit/>
              </a:bodyPr>
              <a:lstStyle/>
              <a:p>
                <a:pPr algn="ctr">
                  <a:tabLst>
                    <a:tab pos="0" algn="l"/>
                  </a:tabLst>
                </a:pPr>
                <a:r>
                  <a:rPr lang="en-US" sz="1100" dirty="0">
                    <a:latin typeface="Agency FB" panose="020B0503020202020204" pitchFamily="34" charset="0"/>
                  </a:rPr>
                  <a:t>Team Members:</a:t>
                </a:r>
                <a:endParaRPr lang="en-US" sz="1100" b="0" u="none" strike="noStrike" dirty="0">
                  <a:solidFill>
                    <a:srgbClr val="FFFFFF"/>
                  </a:solidFill>
                  <a:effectLst/>
                  <a:uFillTx/>
                  <a:latin typeface="Agency FB" panose="020B0503020202020204" pitchFamily="34" charset="0"/>
                </a:endParaRPr>
              </a:p>
            </p:txBody>
          </p:sp>
        </p:grpSp>
      </p:grp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190599" y="2819400"/>
            <a:ext cx="6198327" cy="12475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dirty="0">
                <a:latin typeface="Agency FB" panose="020B0503020202020204" pitchFamily="34" charset="0"/>
              </a:rPr>
              <a:t>Web Attacks &amp; Data Privacy Project Proposal</a:t>
            </a:r>
            <a:endParaRPr lang="fr-FR" sz="4200" b="0" u="none" strike="noStrike" dirty="0">
              <a:solidFill>
                <a:schemeClr val="dk1"/>
              </a:solidFill>
              <a:effectLst/>
              <a:uFillTx/>
              <a:latin typeface="Agency FB" panose="020B0503020202020204" pitchFamily="34" charset="0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2136962" y="4071262"/>
            <a:ext cx="6850800" cy="9689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600" dirty="0">
                <a:latin typeface="Agency FB" panose="020B0503020202020204" pitchFamily="34" charset="0"/>
              </a:rPr>
              <a:t>OWASP Vulnerability Assessment </a:t>
            </a:r>
            <a:r>
              <a:rPr lang="en-US" sz="1600" dirty="0" err="1">
                <a:latin typeface="Agency FB" panose="020B0503020202020204" pitchFamily="34" charset="0"/>
              </a:rPr>
              <a:t>PlatformDemonstrating</a:t>
            </a:r>
            <a:r>
              <a:rPr lang="en-US" sz="1600" dirty="0">
                <a:latin typeface="Agency FB" panose="020B0503020202020204" pitchFamily="34" charset="0"/>
              </a:rPr>
              <a:t>, Testing, and Mitigating Web Application Attacks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gency FB" panose="020B05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78F16A-88FD-0C4B-8060-604FF3568215}"/>
              </a:ext>
            </a:extLst>
          </p:cNvPr>
          <p:cNvSpPr txBox="1"/>
          <p:nvPr/>
        </p:nvSpPr>
        <p:spPr>
          <a:xfrm>
            <a:off x="243000" y="4210582"/>
            <a:ext cx="45427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gency FB" panose="020B0503020202020204" pitchFamily="34" charset="0"/>
              </a:rPr>
              <a:t>Yousef </a:t>
            </a:r>
            <a:r>
              <a:rPr lang="en-US" sz="1000" dirty="0" err="1">
                <a:latin typeface="Agency FB" panose="020B0503020202020204" pitchFamily="34" charset="0"/>
              </a:rPr>
              <a:t>Yousef</a:t>
            </a:r>
            <a:r>
              <a:rPr lang="en-US" sz="1000" dirty="0">
                <a:latin typeface="Agency FB" panose="020B0503020202020204" pitchFamily="34" charset="0"/>
              </a:rPr>
              <a:t> 213521073</a:t>
            </a:r>
            <a:br>
              <a:rPr lang="en-US" sz="1000" dirty="0">
                <a:latin typeface="Agency FB" panose="020B0503020202020204" pitchFamily="34" charset="0"/>
              </a:rPr>
            </a:br>
            <a:r>
              <a:rPr lang="en-US" sz="1000" dirty="0" err="1">
                <a:latin typeface="Agency FB" panose="020B0503020202020204" pitchFamily="34" charset="0"/>
              </a:rPr>
              <a:t>khairy</a:t>
            </a:r>
            <a:r>
              <a:rPr lang="en-US" sz="1000" dirty="0">
                <a:latin typeface="Agency FB" panose="020B0503020202020204" pitchFamily="34" charset="0"/>
              </a:rPr>
              <a:t> </a:t>
            </a:r>
            <a:r>
              <a:rPr lang="en-US" sz="1000" dirty="0" err="1">
                <a:latin typeface="Agency FB" panose="020B0503020202020204" pitchFamily="34" charset="0"/>
              </a:rPr>
              <a:t>kreem</a:t>
            </a:r>
            <a:r>
              <a:rPr lang="en-US" sz="1000" dirty="0">
                <a:latin typeface="Agency FB" panose="020B0503020202020204" pitchFamily="34" charset="0"/>
              </a:rPr>
              <a:t> 324845809</a:t>
            </a:r>
          </a:p>
          <a:p>
            <a:r>
              <a:rPr lang="en-US" sz="1000" dirty="0">
                <a:latin typeface="Agency FB" panose="020B0503020202020204" pitchFamily="34" charset="0"/>
              </a:rPr>
              <a:t>Mohamed Hanif 212924211</a:t>
            </a:r>
          </a:p>
          <a:p>
            <a:endParaRPr lang="en-US" sz="100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80;p31">
            <a:extLst>
              <a:ext uri="{FF2B5EF4-FFF2-40B4-BE49-F238E27FC236}">
                <a16:creationId xmlns:a16="http://schemas.microsoft.com/office/drawing/2014/main" id="{BA3EF707-049C-68B4-866D-2D179D170E8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59200" y="0"/>
            <a:ext cx="348444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" name="Google Shape;281;p31"/>
          <p:cNvGrpSpPr/>
          <p:nvPr/>
        </p:nvGrpSpPr>
        <p:grpSpPr>
          <a:xfrm>
            <a:off x="118439" y="159109"/>
            <a:ext cx="8906941" cy="4892951"/>
            <a:chOff x="118439" y="159109"/>
            <a:chExt cx="8906941" cy="4892951"/>
          </a:xfrm>
        </p:grpSpPr>
        <p:sp>
          <p:nvSpPr>
            <p:cNvPr id="30" name="Google Shape;282;p31"/>
            <p:cNvSpPr/>
            <p:nvPr/>
          </p:nvSpPr>
          <p:spPr>
            <a:xfrm>
              <a:off x="118439" y="159109"/>
              <a:ext cx="5201705" cy="772385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283;p31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121980"/>
            <a:ext cx="5201705" cy="6121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dirty="0">
                <a:latin typeface="Agency FB" panose="020B0503020202020204" pitchFamily="34" charset="0"/>
              </a:rPr>
              <a:t>Rational – Main Objectives &amp; Functionality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gency FB" panose="020B0503020202020204" pitchFamily="34" charset="0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118439" y="865450"/>
            <a:ext cx="5650349" cy="39850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900" b="1" dirty="0"/>
              <a:t>OWASP Vulnerability Assessment Platform</a:t>
            </a:r>
          </a:p>
          <a:p>
            <a:pPr>
              <a:lnSpc>
                <a:spcPct val="120000"/>
              </a:lnSpc>
              <a:buNone/>
            </a:pPr>
            <a:r>
              <a:rPr lang="en-US" sz="900" b="1" dirty="0"/>
              <a:t>Project Objective</a:t>
            </a:r>
            <a:endParaRPr lang="en-US" sz="900" dirty="0"/>
          </a:p>
          <a:p>
            <a:pPr>
              <a:lnSpc>
                <a:spcPct val="120000"/>
              </a:lnSpc>
              <a:buNone/>
            </a:pPr>
            <a:r>
              <a:rPr lang="en-US" sz="900" dirty="0"/>
              <a:t>Develop a web-based platform that demonstrates, tests, analyzes, and mitigates multiple OWASP web application vulnerabilities in a controlled environment.</a:t>
            </a:r>
          </a:p>
          <a:p>
            <a:pPr>
              <a:lnSpc>
                <a:spcPct val="120000"/>
              </a:lnSpc>
              <a:buNone/>
            </a:pPr>
            <a:r>
              <a:rPr lang="en-US" sz="900" b="1" dirty="0"/>
              <a:t>Main Functionality</a:t>
            </a:r>
            <a:endParaRPr lang="en-US" sz="900" dirty="0"/>
          </a:p>
          <a:p>
            <a:pPr>
              <a:lnSpc>
                <a:spcPct val="120000"/>
              </a:lnSpc>
              <a:buNone/>
            </a:pPr>
            <a:r>
              <a:rPr lang="en-US" sz="1050" b="1" dirty="0"/>
              <a:t>•</a:t>
            </a:r>
            <a:r>
              <a:rPr lang="en-US" sz="900" dirty="0"/>
              <a:t> Simulate common web attacks including: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SQL Injection (SQLi)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Cross-Site Scripting (XSS)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Cross-Site Request Forgery (CSRF)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Server-Side Request Forgery (SSRF) </a:t>
            </a:r>
          </a:p>
          <a:p>
            <a:pPr>
              <a:lnSpc>
                <a:spcPct val="120000"/>
              </a:lnSpc>
              <a:buNone/>
            </a:pPr>
            <a:r>
              <a:rPr lang="en-US" sz="1050" b="1" dirty="0"/>
              <a:t>•</a:t>
            </a:r>
            <a:r>
              <a:rPr lang="en-US" sz="900" dirty="0"/>
              <a:t> Integrate Burp Suite for vulnerability testing and attack analysis.</a:t>
            </a:r>
          </a:p>
          <a:p>
            <a:pPr>
              <a:lnSpc>
                <a:spcPct val="120000"/>
              </a:lnSpc>
              <a:buNone/>
            </a:pPr>
            <a:r>
              <a:rPr lang="en-US" sz="1050" b="1" dirty="0"/>
              <a:t>•</a:t>
            </a:r>
            <a:r>
              <a:rPr lang="en-US" sz="900" dirty="0"/>
              <a:t> Capture and analyze network traffic using Wireshark.</a:t>
            </a:r>
          </a:p>
          <a:p>
            <a:pPr>
              <a:lnSpc>
                <a:spcPct val="120000"/>
              </a:lnSpc>
              <a:buNone/>
            </a:pPr>
            <a:r>
              <a:rPr lang="en-US" sz="1050" b="1" dirty="0"/>
              <a:t>•</a:t>
            </a:r>
            <a:r>
              <a:rPr lang="en-US" sz="900" dirty="0"/>
              <a:t> Implement secure coding techniques: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Parameterized SQL queries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Input validation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Output sanitization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900" dirty="0"/>
              <a:t>Session protection </a:t>
            </a:r>
          </a:p>
          <a:p>
            <a:r>
              <a:rPr lang="en-US" sz="1000" b="1" dirty="0"/>
              <a:t>•</a:t>
            </a:r>
            <a:r>
              <a:rPr lang="en-US" sz="900" dirty="0"/>
              <a:t> Develop a Python-based attack automation module that automatically executes predefined attack payloads and records the results.</a:t>
            </a:r>
          </a:p>
          <a:p>
            <a:r>
              <a:rPr lang="en-US" sz="1000" b="1" dirty="0"/>
              <a:t>•</a:t>
            </a:r>
            <a:r>
              <a:rPr lang="en-US" sz="900" dirty="0"/>
              <a:t> Implement a statistics-based threat detection mechanism that monitors request patterns, failed login attempts, and suspicious user activity.</a:t>
            </a:r>
          </a:p>
          <a:p>
            <a:r>
              <a:rPr lang="en-US" sz="1000" b="1" dirty="0"/>
              <a:t>•</a:t>
            </a:r>
            <a:r>
              <a:rPr lang="en-US" sz="900" dirty="0"/>
              <a:t> Demonstrate both vulnerable and secure implementations to compare attack success and mitigation effectiveness.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2B6DDB-AD8D-C66A-3F65-E5756FF6E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492345"/>
              </p:ext>
            </p:extLst>
          </p:nvPr>
        </p:nvGraphicFramePr>
        <p:xfrm>
          <a:off x="2206952" y="697058"/>
          <a:ext cx="5225910" cy="4243848"/>
        </p:xfrm>
        <a:graphic>
          <a:graphicData uri="http://schemas.openxmlformats.org/drawingml/2006/table">
            <a:tbl>
              <a:tblPr/>
              <a:tblGrid>
                <a:gridCol w="2612955">
                  <a:extLst>
                    <a:ext uri="{9D8B030D-6E8A-4147-A177-3AD203B41FA5}">
                      <a16:colId xmlns:a16="http://schemas.microsoft.com/office/drawing/2014/main" val="2871758917"/>
                    </a:ext>
                  </a:extLst>
                </a:gridCol>
                <a:gridCol w="2612955">
                  <a:extLst>
                    <a:ext uri="{9D8B030D-6E8A-4147-A177-3AD203B41FA5}">
                      <a16:colId xmlns:a16="http://schemas.microsoft.com/office/drawing/2014/main" val="1038679647"/>
                    </a:ext>
                  </a:extLst>
                </a:gridCol>
              </a:tblGrid>
              <a:tr h="197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Course Topic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Implementation in Our Project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105408"/>
                  </a:ext>
                </a:extLst>
              </a:tr>
              <a:tr h="33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Web Application Architecture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/>
                        <a:t>Client → Flask server → </a:t>
                      </a:r>
                      <a:r>
                        <a:rPr lang="fr-FR" sz="1000" dirty="0" err="1"/>
                        <a:t>Database</a:t>
                      </a:r>
                      <a:r>
                        <a:rPr lang="fr-FR" sz="1000" dirty="0"/>
                        <a:t> communication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628710"/>
                  </a:ext>
                </a:extLst>
              </a:tr>
              <a:tr h="33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SQL Injection Attacks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Login bypass and database extraction scenarios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946253"/>
                  </a:ext>
                </a:extLst>
              </a:tr>
              <a:tr h="33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Cross-Site Scripting (XSS)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Stored XSS attack through comment/input fields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085073"/>
                  </a:ext>
                </a:extLst>
              </a:tr>
              <a:tr h="33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Cross-Site Request Forgery (CSRF)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Unauthorized actions performed through authenticated sessions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274303"/>
                  </a:ext>
                </a:extLst>
              </a:tr>
              <a:tr h="33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Server-Side Request Forgery (SSRF)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Server-side URL requests to unauthorized resources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56498"/>
                  </a:ext>
                </a:extLst>
              </a:tr>
              <a:tr h="3382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OWASP Vulnerabilities</a:t>
                      </a:r>
                    </a:p>
                    <a:p>
                      <a:pPr>
                        <a:buNone/>
                      </a:pPr>
                      <a:endParaRPr lang="en-US" sz="1000" dirty="0"/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Demonstration of common web security weaknesses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174474"/>
                  </a:ext>
                </a:extLst>
              </a:tr>
              <a:tr h="33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Network Analysis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Wireshark used to capture and analyze attack traffic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119336"/>
                  </a:ext>
                </a:extLst>
              </a:tr>
              <a:tr h="33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Security Testing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Burp Suite and Wireshark used for attack analysis and testing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531558"/>
                  </a:ext>
                </a:extLst>
              </a:tr>
              <a:tr h="33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Security Mitigation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Input validation, output sanitization, parameterized queries, session protection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515595"/>
                  </a:ext>
                </a:extLst>
              </a:tr>
              <a:tr h="33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Data Privacy 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Demonstrating risks of exposing sensitive user data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633263"/>
                  </a:ext>
                </a:extLst>
              </a:tr>
              <a:tr h="338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Threat Detection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Request analysis and attack classification module</a:t>
                      </a:r>
                    </a:p>
                  </a:txBody>
                  <a:tcPr marL="61553" marR="61553" marT="30777" marB="307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24057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A2BDE34-E5F5-4D7B-95FD-4484FFD4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14" y="202594"/>
            <a:ext cx="8648186" cy="683314"/>
          </a:xfrm>
        </p:spPr>
        <p:txBody>
          <a:bodyPr/>
          <a:lstStyle/>
          <a:p>
            <a:pPr algn="ctr"/>
            <a:r>
              <a:rPr lang="en-US" sz="1600" b="1" dirty="0"/>
              <a:t>Course Link – Topics Mapped to Implementation</a:t>
            </a:r>
            <a:br>
              <a:rPr lang="en-US" sz="1600" b="1" dirty="0"/>
            </a:br>
            <a:endParaRPr lang="en-IL" sz="1600" dirty="0"/>
          </a:p>
        </p:txBody>
      </p:sp>
    </p:spTree>
    <p:extLst>
      <p:ext uri="{BB962C8B-B14F-4D97-AF65-F5344CB8AC3E}">
        <p14:creationId xmlns:p14="http://schemas.microsoft.com/office/powerpoint/2010/main" val="162884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224;p28"/>
          <p:cNvGrpSpPr/>
          <p:nvPr/>
        </p:nvGrpSpPr>
        <p:grpSpPr>
          <a:xfrm>
            <a:off x="118260" y="1369202"/>
            <a:ext cx="8907120" cy="3747265"/>
            <a:chOff x="118440" y="1505520"/>
            <a:chExt cx="8907120" cy="3546720"/>
          </a:xfrm>
        </p:grpSpPr>
        <p:sp>
          <p:nvSpPr>
            <p:cNvPr id="44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19100" y="48006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Agency FB" panose="020B0503020202020204" pitchFamily="34" charset="0"/>
                <a:ea typeface="Manrope"/>
              </a:rPr>
              <a:t>Leading Products in the Market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gency FB" panose="020B0503020202020204" pitchFamily="34" charset="0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90000" y="1369202"/>
            <a:ext cx="7765472" cy="85982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/>
              <a:t>Several commercial and open-source security products are designed to protect web applications against attacks such as SQL Injection and Cross-Site Scripting.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6F1BA-3E38-9E06-21B0-A7F39C4B3168}"/>
              </a:ext>
            </a:extLst>
          </p:cNvPr>
          <p:cNvSpPr txBox="1"/>
          <p:nvPr/>
        </p:nvSpPr>
        <p:spPr>
          <a:xfrm>
            <a:off x="192989" y="2127678"/>
            <a:ext cx="2736272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Burp Suite</a:t>
            </a:r>
          </a:p>
          <a:p>
            <a:endParaRPr lang="en-US" sz="1050" b="1" dirty="0"/>
          </a:p>
          <a:p>
            <a:r>
              <a:rPr lang="en-US" sz="1050" b="1" dirty="0"/>
              <a:t>Description:</a:t>
            </a:r>
            <a:br>
              <a:rPr lang="en-US" sz="1050" dirty="0"/>
            </a:br>
            <a:r>
              <a:rPr lang="en-US" sz="1000" dirty="0"/>
              <a:t>A professional web application security testing platform used for penetration testing and vulnerability assessment.</a:t>
            </a:r>
          </a:p>
          <a:p>
            <a:endParaRPr lang="en-US" sz="1000" dirty="0"/>
          </a:p>
          <a:p>
            <a:r>
              <a:rPr lang="en-US" sz="1050" b="1" dirty="0"/>
              <a:t>Advantages</a:t>
            </a: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Intercepts and modifies HTTP requests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Automated vulnerability scanning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Supports SQLi, XSS, CSRF, and SSRF testing </a:t>
            </a:r>
          </a:p>
          <a:p>
            <a:endParaRPr lang="en-US" sz="1000" dirty="0"/>
          </a:p>
          <a:p>
            <a:r>
              <a:rPr lang="en-US" sz="1050" b="1" dirty="0"/>
              <a:t>Disadvantages</a:t>
            </a: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Advanced features require a paid version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Learning curve for beginners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DD04D-DC9F-9892-F19A-F83703770009}"/>
              </a:ext>
            </a:extLst>
          </p:cNvPr>
          <p:cNvSpPr txBox="1"/>
          <p:nvPr/>
        </p:nvSpPr>
        <p:spPr>
          <a:xfrm>
            <a:off x="3305285" y="2127678"/>
            <a:ext cx="2833255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OWASP ZAP (Zed Attack Proxy)</a:t>
            </a:r>
          </a:p>
          <a:p>
            <a:endParaRPr lang="en-US" sz="1050" b="1" dirty="0"/>
          </a:p>
          <a:p>
            <a:r>
              <a:rPr lang="en-US" sz="1050" b="1" dirty="0"/>
              <a:t>Description:</a:t>
            </a:r>
            <a:br>
              <a:rPr lang="en-US" sz="1050" dirty="0"/>
            </a:br>
            <a:r>
              <a:rPr lang="en-US" sz="1000" dirty="0"/>
              <a:t>An open-source web application security scanner developed by OWASP.</a:t>
            </a:r>
          </a:p>
          <a:p>
            <a:endParaRPr lang="en-US" sz="1000" dirty="0"/>
          </a:p>
          <a:p>
            <a:r>
              <a:rPr lang="en-US" sz="1050" b="1" dirty="0"/>
              <a:t>Advantages</a:t>
            </a: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Free and open source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Automated vulnerability scanning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Suitable for educational projects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Active OWASP community support </a:t>
            </a:r>
          </a:p>
          <a:p>
            <a:endParaRPr lang="en-US" sz="1000" dirty="0"/>
          </a:p>
          <a:p>
            <a:r>
              <a:rPr lang="en-US" sz="1050" b="1" dirty="0"/>
              <a:t>Disadvantages</a:t>
            </a: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Less powerful than Burp Professional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More limited automation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6E512-03A0-0E2E-0625-27FB21C76592}"/>
              </a:ext>
            </a:extLst>
          </p:cNvPr>
          <p:cNvSpPr txBox="1"/>
          <p:nvPr/>
        </p:nvSpPr>
        <p:spPr>
          <a:xfrm>
            <a:off x="6214740" y="2162303"/>
            <a:ext cx="2886480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 err="1"/>
              <a:t>ModSecurity</a:t>
            </a:r>
            <a:r>
              <a:rPr lang="en-US" sz="1050" b="1" dirty="0"/>
              <a:t> (Web Application Firewall)</a:t>
            </a:r>
          </a:p>
          <a:p>
            <a:endParaRPr lang="en-US" sz="1050" b="1" dirty="0"/>
          </a:p>
          <a:p>
            <a:r>
              <a:rPr lang="en-US" sz="1050" b="1" dirty="0"/>
              <a:t>Description:</a:t>
            </a:r>
            <a:br>
              <a:rPr lang="en-US" sz="1050" dirty="0"/>
            </a:br>
            <a:r>
              <a:rPr lang="en-US" sz="1000" dirty="0"/>
              <a:t>An open-source Web Application Firewall (WAF) used to detect and block malicious requests.</a:t>
            </a:r>
          </a:p>
          <a:p>
            <a:endParaRPr lang="en-US" sz="1000" dirty="0"/>
          </a:p>
          <a:p>
            <a:r>
              <a:rPr lang="en-US" sz="1050" b="1" dirty="0"/>
              <a:t>Advantages</a:t>
            </a: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Protects against common OWASP attacks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Highly customizable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Widely adopted </a:t>
            </a:r>
          </a:p>
          <a:p>
            <a:endParaRPr lang="en-US" sz="1000" dirty="0"/>
          </a:p>
          <a:p>
            <a:r>
              <a:rPr lang="en-US" sz="1050" b="1" dirty="0"/>
              <a:t>Disadvantages</a:t>
            </a: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Complex configuration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Can generate false positives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6930-8F32-BE50-BEF5-0964ECF6C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A93C5-06B4-0604-8D64-FAD886B45815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IL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CA38FF-F1EF-9832-8D42-6F08414D2B3F}"/>
                  </a:ext>
                </a:extLst>
              </p14:cNvPr>
              <p14:cNvContentPartPr/>
              <p14:nvPr/>
            </p14:nvContentPartPr>
            <p14:xfrm>
              <a:off x="326025" y="200140"/>
              <a:ext cx="178920" cy="278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CA38FF-F1EF-9832-8D42-6F08414D2B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385" y="191500"/>
                <a:ext cx="19656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9F5163B-30AB-89A4-A759-F1507E136AEE}"/>
                  </a:ext>
                </a:extLst>
              </p14:cNvPr>
              <p14:cNvContentPartPr/>
              <p14:nvPr/>
            </p14:nvContentPartPr>
            <p14:xfrm>
              <a:off x="110385" y="70900"/>
              <a:ext cx="465840" cy="465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9F5163B-30AB-89A4-A759-F1507E136A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385" y="8260"/>
                <a:ext cx="591480" cy="59112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1897C8C-33D0-442F-DAF2-B102D93C85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6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03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749316" y="415758"/>
            <a:ext cx="742932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dirty="0">
                <a:latin typeface="Agency FB" panose="020B0503020202020204" pitchFamily="34" charset="0"/>
              </a:rPr>
              <a:t>Technology – OS, Languages, Tools, DB, Libraries</a:t>
            </a:r>
            <a:endParaRPr lang="en-US" sz="2700" b="0" u="none" strike="noStrike" dirty="0">
              <a:solidFill>
                <a:srgbClr val="FFFFFF"/>
              </a:solidFill>
              <a:effectLst/>
              <a:uFillTx/>
              <a:latin typeface="Agency FB" panose="020B05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F7A6B-0CB5-3688-BD4A-45736B7ABFC4}"/>
              </a:ext>
            </a:extLst>
          </p:cNvPr>
          <p:cNvSpPr txBox="1"/>
          <p:nvPr/>
        </p:nvSpPr>
        <p:spPr>
          <a:xfrm>
            <a:off x="517722" y="1669340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 Display" panose="020B0004020202020204" pitchFamily="34" charset="0"/>
              </a:rPr>
              <a:t>Programming Language:</a:t>
            </a: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• Python</a:t>
            </a:r>
            <a:br>
              <a:rPr lang="en-US" sz="1200" dirty="0">
                <a:latin typeface="Aptos Display" panose="020B0004020202020204" pitchFamily="34" charset="0"/>
              </a:rPr>
            </a:b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Framework:</a:t>
            </a: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• Flask</a:t>
            </a:r>
            <a:br>
              <a:rPr lang="en-US" sz="1200" dirty="0">
                <a:latin typeface="Aptos Display" panose="020B0004020202020204" pitchFamily="34" charset="0"/>
              </a:rPr>
            </a:b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Frontend:</a:t>
            </a: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• HTML</a:t>
            </a: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• CSS</a:t>
            </a: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• JavaScript</a:t>
            </a:r>
            <a:br>
              <a:rPr lang="en-US" sz="1200" dirty="0">
                <a:latin typeface="Aptos Display" panose="020B0004020202020204" pitchFamily="34" charset="0"/>
              </a:rPr>
            </a:b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Database:</a:t>
            </a: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• SQLite / MySQL</a:t>
            </a:r>
            <a:br>
              <a:rPr lang="en-US" sz="1200" dirty="0">
                <a:latin typeface="Aptos Display" panose="020B0004020202020204" pitchFamily="34" charset="0"/>
              </a:rPr>
            </a:b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15207-9683-E434-29C5-36477383F861}"/>
              </a:ext>
            </a:extLst>
          </p:cNvPr>
          <p:cNvSpPr txBox="1"/>
          <p:nvPr/>
        </p:nvSpPr>
        <p:spPr>
          <a:xfrm>
            <a:off x="2134889" y="2050086"/>
            <a:ext cx="31415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ptos Display" panose="020B0004020202020204" pitchFamily="34" charset="0"/>
              </a:rPr>
              <a:t>Libraries:</a:t>
            </a: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• Flask</a:t>
            </a: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• sqlite3</a:t>
            </a: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• requests</a:t>
            </a: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dirty="0">
                <a:latin typeface="Aptos Display" panose="020B0004020202020204" pitchFamily="34" charset="0"/>
              </a:rPr>
              <a:t>• </a:t>
            </a:r>
            <a:r>
              <a:rPr lang="en-US" sz="1200" dirty="0" err="1">
                <a:latin typeface="Aptos Display" panose="020B0004020202020204" pitchFamily="34" charset="0"/>
              </a:rPr>
              <a:t>werkzeug</a:t>
            </a:r>
            <a:br>
              <a:rPr lang="en-US" sz="1200" dirty="0">
                <a:latin typeface="Aptos Display" panose="020B0004020202020204" pitchFamily="34" charset="0"/>
              </a:rPr>
            </a:b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b="1" dirty="0">
                <a:latin typeface="Aptos Display" panose="020B0004020202020204" pitchFamily="34" charset="0"/>
              </a:rPr>
              <a:t>Security &amp; Testing Tools:</a:t>
            </a:r>
            <a:br>
              <a:rPr lang="en-US" sz="1200" dirty="0">
                <a:latin typeface="Aptos Display" panose="020B0004020202020204" pitchFamily="34" charset="0"/>
              </a:rPr>
            </a:br>
            <a:r>
              <a:rPr lang="en-US" sz="1200" b="1" dirty="0">
                <a:latin typeface="Aptos Display" panose="020B0004020202020204" pitchFamily="34" charset="0"/>
              </a:rPr>
              <a:t>Burp Suite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Display" panose="020B0004020202020204" pitchFamily="34" charset="0"/>
              </a:rPr>
              <a:t>Intercept and modify HTTP requests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Display" panose="020B0004020202020204" pitchFamily="34" charset="0"/>
              </a:rPr>
              <a:t>Test SQLi, XSS, CSRF, SSRF payloads</a:t>
            </a:r>
          </a:p>
          <a:p>
            <a:r>
              <a:rPr lang="en-US" sz="1200" b="1" dirty="0">
                <a:latin typeface="Aptos Display" panose="020B0004020202020204" pitchFamily="34" charset="0"/>
              </a:rPr>
              <a:t>Wireshark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Display" panose="020B0004020202020204" pitchFamily="34" charset="0"/>
              </a:rPr>
              <a:t>Capture and analyze network traffic</a:t>
            </a:r>
          </a:p>
          <a:p>
            <a:r>
              <a:rPr lang="en-US" sz="1200" b="1" dirty="0">
                <a:latin typeface="Aptos Display" panose="020B0004020202020204" pitchFamily="34" charset="0"/>
              </a:rPr>
              <a:t>Browser Developer Tools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ptos Display" panose="020B0004020202020204" pitchFamily="34" charset="0"/>
              </a:rPr>
              <a:t>Inspect client-side behavior and requests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5427A6-7411-58E1-4988-209B9B89B04D}"/>
              </a:ext>
            </a:extLst>
          </p:cNvPr>
          <p:cNvSpPr txBox="1"/>
          <p:nvPr/>
        </p:nvSpPr>
        <p:spPr>
          <a:xfrm>
            <a:off x="4306939" y="2195813"/>
            <a:ext cx="458931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ptos Display" panose="020B0004020202020204" pitchFamily="34" charset="0"/>
              </a:rPr>
              <a:t>Rationale for Choice:</a:t>
            </a:r>
            <a:br>
              <a:rPr lang="en-US" sz="1400" b="1" dirty="0">
                <a:latin typeface="Aptos Display" panose="020B0004020202020204" pitchFamily="34" charset="0"/>
              </a:rPr>
            </a:br>
            <a:r>
              <a:rPr lang="en-US" sz="1200" dirty="0"/>
              <a:t>Python and Flask provide a lightweight environment for quickly building vulnerable and secure web application scenarios. Burp Suite and Wireshark allow practical testing, traffic capture, and attack analysis.</a:t>
            </a:r>
            <a:endParaRPr lang="en-US" sz="14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857160" y="582011"/>
            <a:ext cx="323820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>
              <a:tabLst>
                <a:tab pos="0" algn="l"/>
              </a:tabLst>
            </a:pPr>
            <a:r>
              <a:rPr lang="en-US" sz="2800" dirty="0">
                <a:latin typeface="Agency FB" panose="020B0503020202020204" pitchFamily="34" charset="0"/>
              </a:rPr>
              <a:t>Assumptions and Constraints</a:t>
            </a:r>
            <a:endParaRPr lang="en-US" sz="2700" b="0" u="none" strike="noStrike" dirty="0">
              <a:solidFill>
                <a:srgbClr val="FFFFFF"/>
              </a:solidFill>
              <a:effectLst/>
              <a:uFillTx/>
              <a:latin typeface="Agency FB" panose="020B0503020202020204" pitchFamily="34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57160" y="1690255"/>
            <a:ext cx="3430822" cy="26909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Assumptions: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• The project runs in a controlled local environment.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• The attacker has network access to the web application.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• Users interact with the application using a web browser.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Aptos Display" panose="020B0004020202020204" pitchFamily="34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Constraints: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• Limited development time during the semester.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• The attacks are demonstrated for educational purposes only.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• The application will not be exposed to the public internet.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• Hardware and network resources are limited.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Aptos Display" panose="020B0004020202020204" pitchFamily="34" charset="0"/>
            </a:endParaRPr>
          </a:p>
        </p:txBody>
      </p:sp>
      <p:sp>
        <p:nvSpPr>
          <p:cNvPr id="52" name="image6a0b0f34d8d9d" descr="image6a0b0f34d8da1"/>
          <p:cNvSpPr/>
          <p:nvPr/>
        </p:nvSpPr>
        <p:spPr>
          <a:xfrm>
            <a:off x="5257800" y="514440"/>
            <a:ext cx="3200040" cy="411444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268942" y="339855"/>
            <a:ext cx="5356604" cy="4234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>
              <a:tabLst>
                <a:tab pos="0" algn="l"/>
              </a:tabLst>
            </a:pPr>
            <a:r>
              <a:rPr lang="en-US" sz="3200" dirty="0">
                <a:latin typeface="Agency FB" panose="020B0503020202020204" pitchFamily="34" charset="0"/>
              </a:rPr>
              <a:t>Main Scenarios and Expected Results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Agency FB" panose="020B05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1F0A87-583B-563E-FB5F-18BEBF17E179}"/>
              </a:ext>
            </a:extLst>
          </p:cNvPr>
          <p:cNvSpPr txBox="1"/>
          <p:nvPr/>
        </p:nvSpPr>
        <p:spPr>
          <a:xfrm>
            <a:off x="268942" y="1003097"/>
            <a:ext cx="4303058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/>
              <a:t>Scenario 1 – SQL Injection Login Bypass</a:t>
            </a:r>
          </a:p>
          <a:p>
            <a:r>
              <a:rPr lang="en-US" sz="900" b="1" dirty="0"/>
              <a:t>Description:</a:t>
            </a:r>
            <a:br>
              <a:rPr lang="en-US" sz="900" dirty="0"/>
            </a:br>
            <a:r>
              <a:rPr lang="en-US" sz="900" dirty="0"/>
              <a:t>The attacker injects SQL code into the login form to bypass authentication.</a:t>
            </a:r>
          </a:p>
          <a:p>
            <a:r>
              <a:rPr lang="en-US" sz="900" b="1" dirty="0"/>
              <a:t>Expected Result:</a:t>
            </a:r>
            <a:br>
              <a:rPr lang="en-US" sz="900" dirty="0"/>
            </a:br>
            <a:r>
              <a:rPr lang="en-US" sz="900" dirty="0"/>
              <a:t>Unauthorized access to protected user accounts.</a:t>
            </a:r>
          </a:p>
          <a:p>
            <a:endParaRPr lang="en-US" sz="900" dirty="0"/>
          </a:p>
          <a:p>
            <a:r>
              <a:rPr lang="en-US" sz="900" b="1" dirty="0"/>
              <a:t>Scenario 2 – SQL Injection Data Extraction</a:t>
            </a:r>
          </a:p>
          <a:p>
            <a:r>
              <a:rPr lang="en-US" sz="900" b="1" dirty="0"/>
              <a:t>Description:</a:t>
            </a:r>
            <a:br>
              <a:rPr lang="en-US" sz="900" dirty="0"/>
            </a:br>
            <a:r>
              <a:rPr lang="en-US" sz="900" dirty="0"/>
              <a:t>The attacker uses UNION-based SQL Injection to retrieve hidden database information.</a:t>
            </a:r>
          </a:p>
          <a:p>
            <a:r>
              <a:rPr lang="en-US" sz="900" b="1" dirty="0"/>
              <a:t>Expected Result:</a:t>
            </a:r>
            <a:br>
              <a:rPr lang="en-US" sz="900" dirty="0"/>
            </a:br>
            <a:r>
              <a:rPr lang="en-US" sz="900" dirty="0"/>
              <a:t>Exposure of sensitive user data from the database.</a:t>
            </a:r>
          </a:p>
          <a:p>
            <a:endParaRPr lang="en-US" sz="900" dirty="0"/>
          </a:p>
          <a:p>
            <a:r>
              <a:rPr lang="en-US" sz="900" b="1" dirty="0"/>
              <a:t>Scenario 3 – Stored XSS Attack</a:t>
            </a:r>
          </a:p>
          <a:p>
            <a:r>
              <a:rPr lang="en-US" sz="900" b="1" dirty="0"/>
              <a:t>Description:</a:t>
            </a:r>
            <a:br>
              <a:rPr lang="en-US" sz="900" dirty="0"/>
            </a:br>
            <a:r>
              <a:rPr lang="en-US" sz="900" dirty="0"/>
              <a:t>The attacker injects malicious JavaScript code into a comment or input field.</a:t>
            </a:r>
          </a:p>
          <a:p>
            <a:r>
              <a:rPr lang="en-US" sz="900" b="1" dirty="0"/>
              <a:t>Expected Result:</a:t>
            </a:r>
            <a:br>
              <a:rPr lang="en-US" sz="900" dirty="0"/>
            </a:br>
            <a:r>
              <a:rPr lang="en-US" sz="900" dirty="0"/>
              <a:t>Execution of attacker-controlled scripts in another user's browser.</a:t>
            </a:r>
          </a:p>
          <a:p>
            <a:endParaRPr lang="en-US" sz="900" dirty="0"/>
          </a:p>
          <a:p>
            <a:r>
              <a:rPr lang="en-US" sz="900" b="1" dirty="0"/>
              <a:t>Scenario 4 – Cross-Site Request Forgery (CSRF)</a:t>
            </a:r>
          </a:p>
          <a:p>
            <a:r>
              <a:rPr lang="en-US" sz="900" b="1" dirty="0"/>
              <a:t>Description:</a:t>
            </a:r>
            <a:br>
              <a:rPr lang="en-US" sz="900" dirty="0"/>
            </a:br>
            <a:r>
              <a:rPr lang="en-US" sz="900" dirty="0"/>
              <a:t>An authenticated user unknowingly submits a malicious request crafted by an attacker.</a:t>
            </a:r>
          </a:p>
          <a:p>
            <a:r>
              <a:rPr lang="en-US" sz="900" b="1" dirty="0"/>
              <a:t>Expected Result:</a:t>
            </a:r>
            <a:br>
              <a:rPr lang="en-US" sz="900" dirty="0"/>
            </a:br>
            <a:r>
              <a:rPr lang="en-US" sz="900" dirty="0"/>
              <a:t>Unauthorized actions performed using the victim's session.</a:t>
            </a:r>
          </a:p>
          <a:p>
            <a:endParaRPr lang="en-US" sz="900" dirty="0"/>
          </a:p>
          <a:p>
            <a:endParaRPr lang="en-US" sz="900" dirty="0"/>
          </a:p>
          <a:p>
            <a:br>
              <a:rPr lang="en-US" sz="900" dirty="0"/>
            </a:b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27FD2-8860-7784-573E-271D3F90CC9A}"/>
              </a:ext>
            </a:extLst>
          </p:cNvPr>
          <p:cNvSpPr txBox="1"/>
          <p:nvPr/>
        </p:nvSpPr>
        <p:spPr>
          <a:xfrm>
            <a:off x="4706471" y="198641"/>
            <a:ext cx="4303058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Scenario 5 – Server-Side Request Forgery (SSRF)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Description: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attacker manipulates server-side URL requests to access unauthorized resources.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Expected Result: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Access to internal or restricted services through the web server.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Scenario 6 – Security Testing and Traffic Analysis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Description: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Burp Suite and Wireshark are used to intercept, analyze, and monitor attack traffic.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Expected Result: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Identification of vulnerabilities and visualization of attack behavior.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Scenario 7 – Secure Mode Demonstration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Description: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vulnerable implementation is replaced with secure coding techniques.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Expected Result: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SQLi, XSS, CSRF, and SSRF attacks are blocked through validation, sanitization, and secure session handling.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00" dirty="0">
              <a:solidFill>
                <a:srgbClr val="FFFFFF"/>
              </a:solidFill>
              <a:latin typeface="Arial"/>
            </a:endParaRPr>
          </a:p>
          <a:p>
            <a:r>
              <a:rPr lang="en-US" sz="900" b="1" dirty="0"/>
              <a:t>Scenario 8 – NoSQL Injection Attack</a:t>
            </a:r>
          </a:p>
          <a:p>
            <a:r>
              <a:rPr lang="en-US" sz="900" b="1" dirty="0"/>
              <a:t>Description:</a:t>
            </a:r>
            <a:br>
              <a:rPr lang="en-US" sz="900" dirty="0"/>
            </a:br>
            <a:r>
              <a:rPr lang="en-US" sz="900" dirty="0"/>
              <a:t>The attacker exploits insecure NoSQL queries to bypass authentication or access unauthorized information.</a:t>
            </a:r>
          </a:p>
          <a:p>
            <a:r>
              <a:rPr lang="en-US" sz="900" b="1" dirty="0"/>
              <a:t>Expected Result:</a:t>
            </a:r>
            <a:br>
              <a:rPr lang="en-US" sz="900" dirty="0"/>
            </a:br>
            <a:r>
              <a:rPr lang="en-US" sz="900" dirty="0"/>
              <a:t>Unauthorized access to application data through malformed NoSQL queries.</a:t>
            </a:r>
          </a:p>
          <a:p>
            <a:endParaRPr lang="en-US" sz="900" dirty="0"/>
          </a:p>
          <a:p>
            <a:r>
              <a:rPr lang="en-US" sz="900" b="1" dirty="0"/>
              <a:t>Scenario 9 – Automated Vulnerability Assessment</a:t>
            </a:r>
          </a:p>
          <a:p>
            <a:r>
              <a:rPr lang="en-US" sz="900" b="1" dirty="0"/>
              <a:t>Description:</a:t>
            </a:r>
            <a:br>
              <a:rPr lang="en-US" sz="900" dirty="0"/>
            </a:br>
            <a:r>
              <a:rPr lang="en-US" sz="900" dirty="0"/>
              <a:t>A Python automation module sends predefined attack payloads against application endpoints and records the results.</a:t>
            </a:r>
          </a:p>
          <a:p>
            <a:r>
              <a:rPr lang="en-US" sz="900" b="1" dirty="0"/>
              <a:t>Expected Result:</a:t>
            </a:r>
            <a:br>
              <a:rPr lang="en-US" sz="900" dirty="0"/>
            </a:br>
            <a:r>
              <a:rPr lang="en-US" sz="900" dirty="0"/>
              <a:t>Automatic identification and reporting of SQLi, XSS, CSRF, SSRF, and NoSQL vulnerabilities.</a:t>
            </a:r>
          </a:p>
          <a:p>
            <a:endParaRPr lang="en-US" sz="9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224;p28"/>
          <p:cNvGrpSpPr/>
          <p:nvPr/>
        </p:nvGrpSpPr>
        <p:grpSpPr>
          <a:xfrm>
            <a:off x="118440" y="1505520"/>
            <a:ext cx="8907120" cy="3546720"/>
            <a:chOff x="118440" y="1505520"/>
            <a:chExt cx="8907120" cy="3546720"/>
          </a:xfrm>
        </p:grpSpPr>
        <p:sp>
          <p:nvSpPr>
            <p:cNvPr id="57" name="Google Shape;225;p28"/>
            <p:cNvSpPr/>
            <p:nvPr/>
          </p:nvSpPr>
          <p:spPr>
            <a:xfrm>
              <a:off x="118440" y="1505520"/>
              <a:ext cx="8906760" cy="3157920"/>
            </a:xfrm>
            <a:prstGeom prst="roundRect">
              <a:avLst>
                <a:gd name="adj" fmla="val 5521"/>
              </a:avLst>
            </a:prstGeom>
            <a:noFill/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226;p28"/>
            <p:cNvSpPr/>
            <p:nvPr/>
          </p:nvSpPr>
          <p:spPr>
            <a:xfrm rot="5400000">
              <a:off x="4471200" y="497880"/>
              <a:ext cx="201600" cy="890676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00FFA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3960" y="45720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dirty="0">
                <a:latin typeface="Agency FB" panose="020B0503020202020204" pitchFamily="34" charset="0"/>
              </a:rPr>
              <a:t>Challenges – Technical Challenges &amp; Mitigation</a:t>
            </a:r>
            <a:endParaRPr lang="fr-FR" sz="2700" b="0" u="none" strike="noStrike" dirty="0">
              <a:solidFill>
                <a:schemeClr val="dk1"/>
              </a:solidFill>
              <a:effectLst/>
              <a:uFillTx/>
              <a:latin typeface="Agency FB" panose="020B0503020202020204" pitchFamily="34" charset="0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617052" y="2071256"/>
            <a:ext cx="3322936" cy="226521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Main Challenges: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chemeClr val="dk1"/>
              </a:solidFill>
              <a:effectLst/>
              <a:uFillTx/>
              <a:latin typeface="Funnel Sans"/>
              <a:ea typeface="Funnel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• Creating realistic vulnerable web scenarios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• Understanding attack payload behavior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• Preventing accidental damage outside the lab environment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• Capturing network traffic correctly using Wireshark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• Implementing secure mitigation techniques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• Synchronizing frontend and backend components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00" b="0" u="none" strike="noStrike" dirty="0">
              <a:solidFill>
                <a:schemeClr val="dk1"/>
              </a:solidFill>
              <a:effectLst/>
              <a:uFillTx/>
              <a:latin typeface="Funnel Sans"/>
              <a:ea typeface="Funnel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9F849B-D68A-FA67-0BF0-AC5BACD13407}"/>
              </a:ext>
            </a:extLst>
          </p:cNvPr>
          <p:cNvSpPr txBox="1"/>
          <p:nvPr/>
        </p:nvSpPr>
        <p:spPr>
          <a:xfrm>
            <a:off x="5488309" y="2209800"/>
            <a:ext cx="2692800" cy="204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Mitigation Approaches: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050" b="0" u="none" strike="noStrike" dirty="0">
              <a:solidFill>
                <a:schemeClr val="dk1"/>
              </a:solidFill>
              <a:effectLst/>
              <a:uFillTx/>
              <a:latin typeface="Funnel Sans"/>
              <a:ea typeface="Funnel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• Testing only in isolated local environments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• Using virtual machines when needed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• Applying secure coding standards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• Logging requests and errors for debugging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chemeClr val="dk1"/>
                </a:solidFill>
                <a:effectLst/>
                <a:uFillTx/>
                <a:latin typeface="Funnel Sans"/>
                <a:ea typeface="Funnel Sans"/>
              </a:rPr>
              <a:t>• Using parameterized queries and input sanitization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B5D9-1407-4484-6BDA-9CA0F6CEF7CD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2800" b="1" dirty="0"/>
              <a:t>Main Algorithms</a:t>
            </a:r>
            <a:br>
              <a:rPr lang="en-US" sz="2800" b="1" dirty="0"/>
            </a:br>
            <a:endParaRPr lang="en-IL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C166B-AD4B-00D2-8E13-7DBC1247B935}"/>
              </a:ext>
            </a:extLst>
          </p:cNvPr>
          <p:cNvSpPr txBox="1"/>
          <p:nvPr/>
        </p:nvSpPr>
        <p:spPr>
          <a:xfrm>
            <a:off x="363071" y="1280812"/>
            <a:ext cx="39803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b="1" dirty="0"/>
              <a:t>1. SQL Injection Detection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Analyze user input for suspicious SQL patterns.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Detect keywords such 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Courier New" panose="02070309020205020404" pitchFamily="49" charset="0"/>
              </a:rPr>
              <a:t>' OR 1=1</a:t>
            </a:r>
            <a:r>
              <a:rPr lang="en-US" sz="105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Courier New" panose="02070309020205020404" pitchFamily="49" charset="0"/>
              </a:rPr>
              <a:t>UNION</a:t>
            </a:r>
            <a:r>
              <a:rPr lang="en-US" sz="105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Courier New" panose="02070309020205020404" pitchFamily="49" charset="0"/>
              </a:rPr>
              <a:t>SELECT</a:t>
            </a:r>
            <a:r>
              <a:rPr lang="en-US" sz="105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50" dirty="0">
                <a:latin typeface="Courier New" panose="02070309020205020404" pitchFamily="49" charset="0"/>
              </a:rPr>
              <a:t>--</a:t>
            </a:r>
            <a:r>
              <a:rPr lang="en-US" sz="105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Flag or block malicious requests before database execution.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5A5E2-093E-1EE2-D9FE-C5AF5ACE25DF}"/>
              </a:ext>
            </a:extLst>
          </p:cNvPr>
          <p:cNvSpPr txBox="1"/>
          <p:nvPr/>
        </p:nvSpPr>
        <p:spPr>
          <a:xfrm>
            <a:off x="363071" y="2631183"/>
            <a:ext cx="3415553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b="1" dirty="0"/>
              <a:t>2. Input Validation 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Validate input length and format.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Reject unexpected characters and invalid values.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Prevent malicious data from reaching the application logic.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CFBBD-0CB6-838C-7EDD-EE3898FE8DAF}"/>
              </a:ext>
            </a:extLst>
          </p:cNvPr>
          <p:cNvSpPr txBox="1"/>
          <p:nvPr/>
        </p:nvSpPr>
        <p:spPr>
          <a:xfrm>
            <a:off x="349624" y="3490821"/>
            <a:ext cx="3429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b="1" dirty="0"/>
              <a:t>3. XSS Prevention 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Sanitize user-generated content.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Escape HTML and JavaScript special characters.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Encode output before displaying it in the browser.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41C3C0-CDA7-C259-5BBC-1B37CCED5C8B}"/>
              </a:ext>
            </a:extLst>
          </p:cNvPr>
          <p:cNvSpPr txBox="1"/>
          <p:nvPr/>
        </p:nvSpPr>
        <p:spPr>
          <a:xfrm>
            <a:off x="349624" y="4229485"/>
            <a:ext cx="3509683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b="1" dirty="0"/>
              <a:t>4. Security Testing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Intercept HTTP requests using Burp Suite.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Inject test payloads for SQLi, XSS, CSRF, and SSRF.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 Analyze application responses to identify vulnerabilities.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3CE00-CAD9-068A-98AA-C26E8EA85083}"/>
              </a:ext>
            </a:extLst>
          </p:cNvPr>
          <p:cNvSpPr txBox="1"/>
          <p:nvPr/>
        </p:nvSpPr>
        <p:spPr>
          <a:xfrm>
            <a:off x="4800602" y="1331941"/>
            <a:ext cx="3570194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/>
              <a:t>5. Statistics-Based Threat Detection Algorithm</a:t>
            </a:r>
          </a:p>
          <a:p>
            <a:r>
              <a:rPr lang="en-US" sz="1050" b="1" dirty="0"/>
              <a:t>Purpose:</a:t>
            </a:r>
            <a:br>
              <a:rPr lang="en-US" sz="1050" dirty="0"/>
            </a:br>
            <a:r>
              <a:rPr lang="en-US" sz="1050" dirty="0"/>
              <a:t>Identify suspicious behavior based on request patterns.</a:t>
            </a:r>
          </a:p>
          <a:p>
            <a:r>
              <a:rPr lang="en-US" sz="1050" b="1" dirty="0"/>
              <a:t>Process:</a:t>
            </a:r>
            <a:endParaRPr lang="en-US" sz="1050" dirty="0"/>
          </a:p>
          <a:p>
            <a:r>
              <a:rPr lang="en-US" sz="1050" dirty="0"/>
              <a:t>Monitor request frequency. </a:t>
            </a:r>
          </a:p>
          <a:p>
            <a:r>
              <a:rPr lang="en-US" sz="1050" dirty="0"/>
              <a:t>Count failed login attempts. </a:t>
            </a:r>
          </a:p>
          <a:p>
            <a:r>
              <a:rPr lang="en-US" sz="1050" dirty="0"/>
              <a:t>Track suspicious keywords. </a:t>
            </a:r>
          </a:p>
          <a:p>
            <a:r>
              <a:rPr lang="en-US" sz="1050" dirty="0"/>
              <a:t>Detect abnormal traffic behavior. </a:t>
            </a:r>
          </a:p>
          <a:p>
            <a:r>
              <a:rPr lang="en-US" sz="1050" dirty="0"/>
              <a:t>Flag potential attacks for further analysis.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78446D-6F39-B9AD-2EA9-B9E692F27E0F}"/>
              </a:ext>
            </a:extLst>
          </p:cNvPr>
          <p:cNvSpPr txBox="1"/>
          <p:nvPr/>
        </p:nvSpPr>
        <p:spPr>
          <a:xfrm>
            <a:off x="4800602" y="3181939"/>
            <a:ext cx="4572000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b="1" dirty="0"/>
              <a:t>6. Automated Vulnerability Testing Algorithm</a:t>
            </a:r>
          </a:p>
          <a:p>
            <a:pPr>
              <a:buNone/>
            </a:pPr>
            <a:r>
              <a:rPr lang="en-US" sz="1050" b="1" dirty="0"/>
              <a:t>Purpose:</a:t>
            </a:r>
            <a:br>
              <a:rPr lang="en-US" sz="1050" dirty="0"/>
            </a:br>
            <a:r>
              <a:rPr lang="en-US" sz="1050" dirty="0"/>
              <a:t>Automatically assess application security.</a:t>
            </a:r>
          </a:p>
          <a:p>
            <a:pPr>
              <a:buNone/>
            </a:pPr>
            <a:r>
              <a:rPr lang="en-US" sz="1050" b="1" dirty="0"/>
              <a:t>Process:</a:t>
            </a:r>
            <a:endParaRPr lang="en-US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Load attack payloads.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Send automated requests.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Analyze responses.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Record successful exploit attempts.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Generate testing results.</a:t>
            </a:r>
          </a:p>
        </p:txBody>
      </p:sp>
    </p:spTree>
    <p:extLst>
      <p:ext uri="{BB962C8B-B14F-4D97-AF65-F5344CB8AC3E}">
        <p14:creationId xmlns:p14="http://schemas.microsoft.com/office/powerpoint/2010/main" val="2902982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C6179-88FB-9DEE-1C3C-699CC4EAC2B9}"/>
              </a:ext>
            </a:extLst>
          </p:cNvPr>
          <p:cNvSpPr txBox="1"/>
          <p:nvPr/>
        </p:nvSpPr>
        <p:spPr>
          <a:xfrm>
            <a:off x="2431065" y="16875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gency FB" panose="020B0503020202020204" pitchFamily="34" charset="0"/>
              </a:rPr>
              <a:t>High Level Planning – Roles &amp; Milestones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179F-E940-2608-9B5D-F9070D534E58}"/>
              </a:ext>
            </a:extLst>
          </p:cNvPr>
          <p:cNvSpPr txBox="1"/>
          <p:nvPr/>
        </p:nvSpPr>
        <p:spPr>
          <a:xfrm>
            <a:off x="3459093" y="681161"/>
            <a:ext cx="2110434" cy="181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Phase 2 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– Development</a:t>
            </a:r>
          </a:p>
          <a:p>
            <a:pPr>
              <a:tabLst>
                <a:tab pos="0" algn="l"/>
              </a:tabLst>
            </a:pP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Khairy </a:t>
            </a:r>
            <a:r>
              <a:rPr lang="en-US" sz="1100" b="1" u="none" strike="noStrike" dirty="0" err="1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kreem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Aptos Display" panose="020B0004020202020204" pitchFamily="34" charset="0"/>
              </a:rPr>
              <a:t> </a:t>
            </a:r>
          </a:p>
          <a:p>
            <a:pPr>
              <a:buNone/>
            </a:pPr>
            <a:r>
              <a:rPr lang="en-US" sz="1000" b="1" dirty="0"/>
              <a:t>Backend &amp; Database</a:t>
            </a:r>
            <a:endParaRPr lang="en-US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Flask application development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Database integration (SQLite/MySQL)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SQL Injection implementation and mitigation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C9ACED-DF76-84F8-97D5-63D466B26593}"/>
              </a:ext>
            </a:extLst>
          </p:cNvPr>
          <p:cNvSpPr txBox="1"/>
          <p:nvPr/>
        </p:nvSpPr>
        <p:spPr>
          <a:xfrm>
            <a:off x="349623" y="681161"/>
            <a:ext cx="2918013" cy="1725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1" dirty="0"/>
              <a:t>Phase 1 – Research &amp; Planning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 Study OWASP vulnerabilities and attack   techniques.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 Define system architecture and project     requirements.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 Design attack scenarios and testing workflow.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415FFB-DB24-5E7E-2945-F57690C8BD88}"/>
              </a:ext>
            </a:extLst>
          </p:cNvPr>
          <p:cNvSpPr txBox="1"/>
          <p:nvPr/>
        </p:nvSpPr>
        <p:spPr>
          <a:xfrm>
            <a:off x="3459093" y="2583926"/>
            <a:ext cx="2276078" cy="1064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Yousef </a:t>
            </a:r>
            <a:r>
              <a:rPr lang="en-US" sz="1000" b="1" dirty="0" err="1"/>
              <a:t>Yousef</a:t>
            </a:r>
            <a:endParaRPr lang="en-US" sz="1000" b="1" dirty="0"/>
          </a:p>
          <a:p>
            <a:pPr>
              <a:buNone/>
            </a:pPr>
            <a:r>
              <a:rPr lang="en-US" sz="1000" b="1" dirty="0"/>
              <a:t>Frontend &amp; Client-Side Security</a:t>
            </a:r>
            <a:endParaRPr lang="en-US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User interface development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XSS attack implementation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CSRF attack implementation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3D266-2E77-31B4-B31F-C7E3F1C29DCE}"/>
              </a:ext>
            </a:extLst>
          </p:cNvPr>
          <p:cNvSpPr txBox="1"/>
          <p:nvPr/>
        </p:nvSpPr>
        <p:spPr>
          <a:xfrm>
            <a:off x="3459093" y="3679836"/>
            <a:ext cx="2660724" cy="1294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Mohamed Hanif</a:t>
            </a:r>
          </a:p>
          <a:p>
            <a:pPr>
              <a:buNone/>
            </a:pPr>
            <a:r>
              <a:rPr lang="en-US" sz="1000" b="1" dirty="0"/>
              <a:t>Security Testing &amp; Analysis</a:t>
            </a:r>
            <a:endParaRPr lang="en-US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Burp Suite integration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SSRF attack implementation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Wireshark traffic analysis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Security testing documentation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6A0CCD-B709-57AC-A716-529987ABC953}"/>
              </a:ext>
            </a:extLst>
          </p:cNvPr>
          <p:cNvSpPr txBox="1"/>
          <p:nvPr/>
        </p:nvSpPr>
        <p:spPr>
          <a:xfrm>
            <a:off x="5856194" y="681161"/>
            <a:ext cx="3287806" cy="1371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Phase 3 – Security Testing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Execute SQLi, XSS, CSRF, and SSRF attack scenarios.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Capture and analyze traffic using Wireshark.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Test secure-mode protections and mitigations.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Validate application behavior using Burp Suite.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343CC0-C000-D74C-0F6B-85DBCE0411BD}"/>
              </a:ext>
            </a:extLst>
          </p:cNvPr>
          <p:cNvSpPr txBox="1"/>
          <p:nvPr/>
        </p:nvSpPr>
        <p:spPr>
          <a:xfrm>
            <a:off x="5856194" y="2583926"/>
            <a:ext cx="3045759" cy="1371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Phase 4 – Documentation &amp; Presentation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Prepare final report.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Update presentation slides.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Record demonstration video.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Document attack results and mitigation effectiveness.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 Architecture by Slidesgo">
  <a:themeElements>
    <a:clrScheme name="Simple Light">
      <a:dk1>
        <a:srgbClr val="FFFFFF"/>
      </a:dk1>
      <a:lt1>
        <a:srgbClr val="0E0E0E"/>
      </a:lt1>
      <a:dk2>
        <a:srgbClr val="FFFFFF"/>
      </a:dk2>
      <a:lt2>
        <a:srgbClr val="222222"/>
      </a:lt2>
      <a:accent1>
        <a:srgbClr val="D9D9D9"/>
      </a:accent1>
      <a:accent2>
        <a:srgbClr val="00FFA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</TotalTime>
  <Words>1807</Words>
  <Application>Microsoft Office PowerPoint</Application>
  <PresentationFormat>On-screen Show (16:9)</PresentationFormat>
  <Paragraphs>275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Agency FB</vt:lpstr>
      <vt:lpstr>Aptos Display</vt:lpstr>
      <vt:lpstr>Arial</vt:lpstr>
      <vt:lpstr>Calibri</vt:lpstr>
      <vt:lpstr>Courier New</vt:lpstr>
      <vt:lpstr>Funnel Sans</vt:lpstr>
      <vt:lpstr>Manrope</vt:lpstr>
      <vt:lpstr>OpenSymbol</vt:lpstr>
      <vt:lpstr>Symbol</vt:lpstr>
      <vt:lpstr>Wingdings</vt:lpstr>
      <vt:lpstr>Computer Architecture by Slidesgo</vt:lpstr>
      <vt:lpstr>Web Attacks &amp; Data Privacy Project Proposal</vt:lpstr>
      <vt:lpstr>Rational – Main Objectives &amp; Functionality</vt:lpstr>
      <vt:lpstr>Course Link – Topics Mapped to Implementation </vt:lpstr>
      <vt:lpstr>Leading Products in the Market</vt:lpstr>
      <vt:lpstr>PowerPoint Presentation</vt:lpstr>
      <vt:lpstr>PowerPoint Presentation</vt:lpstr>
      <vt:lpstr>PowerPoint Presentation</vt:lpstr>
      <vt:lpstr>PowerPoint Presentation</vt:lpstr>
      <vt:lpstr>Challenges – Technical Challenges &amp; Mitigation</vt:lpstr>
      <vt:lpstr>Main Algorithms 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mohamed</dc:creator>
  <cp:lastModifiedBy>yousef yousef</cp:lastModifiedBy>
  <cp:revision>10</cp:revision>
  <dcterms:modified xsi:type="dcterms:W3CDTF">2026-06-19T09:26:06Z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2026-05-18T13:08:04Z</dcterms:created>
  <dc:creator>Unknown Creator</dc:creator>
  <dc:description/>
  <dc:language>en-US</dc:language>
  <cp:lastModifiedBy>Unknown Creator</cp:lastModifiedBy>
  <dcterms:modified xsi:type="dcterms:W3CDTF">2026-05-18T13:08:04Z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