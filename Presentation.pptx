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generating face morphs and detecting them, two linked assignments.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two parts and what each covers.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into Part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Four-stage pipeline: detect landmarks, triangulate, warp, cross-dissolve.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MediaPipe FaceLandmarker and the 8 boundary points.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Delaunay triangulation on the averaged shape.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piecewise-affine warp of each triangle.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sample triptychs: Subject A, morph, Subject 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the report's observations and limitations section.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into Part 2, detection.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paper being reproduced and the detection pipeline.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what we adapted from the paper and why.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actual FFHQ sample and morph-generation output cells from the notebook.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CLAHE preprocessing output and the train/val/test split grid and counts.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SVM training cell and its train/val accuracy output.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confusion matrix and ROC curve from the held-out test 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six improvement experiments run after the SVM baseline.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actual cell output for cosine LR decay and Swish activation experiments.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actual cell output for class weights and deeper+BatchNorm experiments.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line chart tracking accuracy, F1 and recall across all seven experiments.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final threshold-tuning step and its confusion matrix.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metrics table comparing paper vs our implementation.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a summary and thanks.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jpeg"/><Relationship Id="rId3" Type="http://schemas.openxmlformats.org/officeDocument/2006/relationships/image" Target="../media/image-8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image" Target="../media/image-13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image" Target="../media/image-14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eg"/><Relationship Id="rId2" Type="http://schemas.openxmlformats.org/officeDocument/2006/relationships/image" Target="../media/image-18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eg"/><Relationship Id="rId2" Type="http://schemas.openxmlformats.org/officeDocument/2006/relationships/image" Target="../media/image-19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32532">
                  <a:alpha val="100000"/>
                </a:srgbClr>
              </a:gs>
              <a:gs pos="65000">
                <a:srgbClr val="161826">
                  <a:alpha val="100000"/>
                </a:srgbClr>
              </a:gs>
            </a:gsLst>
            <a:path path="circle">
              <a:fillToRect l="15000" t="10000" r="85000" b="9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047750" y="4837509"/>
            <a:ext cx="178117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1500" spc="210" kern="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VISION — FINAL PROJECT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47750" y="5304234"/>
            <a:ext cx="16678275" cy="16013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273"/>
              </a:lnSpc>
              <a:buNone/>
            </a:pPr>
            <a:r>
              <a:rPr lang="en-US" sz="5700" spc="-85" kern="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 Morphing Generation &amp; Detection</a:t>
            </a:r>
            <a:endParaRPr lang="en-US" sz="5700" dirty="0"/>
          </a:p>
        </p:txBody>
      </p:sp>
      <p:sp>
        <p:nvSpPr>
          <p:cNvPr id="5" name="Text 3"/>
          <p:cNvSpPr/>
          <p:nvPr/>
        </p:nvSpPr>
        <p:spPr>
          <a:xfrm>
            <a:off x="1047750" y="7058025"/>
            <a:ext cx="11576685" cy="1028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706"/>
              </a:lnSpc>
              <a:buNone/>
            </a:pPr>
            <a:r>
              <a:rPr lang="en-US" sz="3000" dirty="0">
                <a:solidFill>
                  <a:srgbClr val="EAEAEE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two-part study: building a landmark-based face-morphing pipeline, then training a model to detect the morphs it produces.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047750" y="8658225"/>
            <a:ext cx="204682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800" spc="180" kern="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47750" y="9096375"/>
            <a:ext cx="2046823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808"/>
              </a:lnSpc>
              <a:buNone/>
            </a:pPr>
            <a:r>
              <a:rPr lang="en-US" sz="2250" dirty="0">
                <a:solidFill>
                  <a:srgbClr val="E9E9ED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Yousef Yousef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3441899" y="9096375"/>
            <a:ext cx="1939647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808"/>
              </a:lnSpc>
              <a:buNone/>
            </a:pPr>
            <a:r>
              <a:rPr lang="en-US" sz="2250" dirty="0">
                <a:solidFill>
                  <a:srgbClr val="E9E9ED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Atheer Azaiza</a:t>
            </a:r>
            <a:endParaRPr lang="en-US" sz="2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1500" spc="210" kern="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047750" y="1419225"/>
            <a:ext cx="17811750" cy="6963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255"/>
              </a:lnSpc>
              <a:buNone/>
            </a:pPr>
            <a:r>
              <a:rPr lang="en-US" sz="4800" spc="-72" kern="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presentation covers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047750" y="2496542"/>
            <a:ext cx="7791450" cy="7028458"/>
          </a:xfrm>
          <a:prstGeom prst="roundRect">
            <a:avLst>
              <a:gd name="adj" fmla="val 1897"/>
            </a:avLst>
          </a:prstGeom>
          <a:solidFill>
            <a:srgbClr val="232532"/>
          </a:solidFill>
          <a:ln/>
        </p:spPr>
      </p:sp>
      <p:sp>
        <p:nvSpPr>
          <p:cNvPr id="5" name="Text 3"/>
          <p:cNvSpPr/>
          <p:nvPr/>
        </p:nvSpPr>
        <p:spPr>
          <a:xfrm>
            <a:off x="1543050" y="2991842"/>
            <a:ext cx="748093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800" spc="180" kern="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43050" y="3544292"/>
            <a:ext cx="7480935" cy="5695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Generating Face Morphs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543050" y="4285258"/>
            <a:ext cx="7004876" cy="1152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174"/>
              </a:lnSpc>
              <a:buNone/>
            </a:pPr>
            <a:r>
              <a:rPr lang="en-US" sz="1950" dirty="0">
                <a:solidFill>
                  <a:srgbClr val="E9E9ED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Landmark detection, Delaunay triangulation, piecewise-affine warping, cross-dissolve blending, and results across 58 pairs from LFW.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1543050" y="5685433"/>
            <a:ext cx="6800850" cy="9525"/>
          </a:xfrm>
          <a:prstGeom prst="rect">
            <a:avLst/>
          </a:prstGeom>
          <a:gradFill rotWithShape="1">
            <a:gsLst>
              <a:gs pos="0">
                <a:srgbClr val="E6E6EC">
                  <a:alpha val="0"/>
                </a:srgbClr>
              </a:gs>
              <a:gs pos="50000">
                <a:srgbClr val="E6E6EC">
                  <a:alpha val="16000"/>
                </a:srgbClr>
              </a:gs>
              <a:gs pos="100000">
                <a:srgbClr val="E6E6EC">
                  <a:alpha val="16000"/>
                </a:srgbClr>
              </a:gs>
              <a:gs pos="100000">
                <a:srgbClr val="E6E6EC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9" name="Text 7"/>
          <p:cNvSpPr/>
          <p:nvPr/>
        </p:nvSpPr>
        <p:spPr>
          <a:xfrm>
            <a:off x="1543050" y="6031508"/>
            <a:ext cx="278606" cy="303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500"/>
              </a:lnSpc>
              <a:buNone/>
            </a:pPr>
            <a:r>
              <a:rPr lang="en-US" sz="1350" spc="81" kern="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897856" y="5980708"/>
            <a:ext cx="434685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800" dirty="0">
                <a:solidFill>
                  <a:srgbClr val="E9E9ED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 landmarks (MediaPipe, 478 pts)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43050" y="6526808"/>
            <a:ext cx="313134" cy="303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500"/>
              </a:lnSpc>
              <a:buNone/>
            </a:pPr>
            <a:r>
              <a:rPr lang="en-US" sz="1350" spc="81" kern="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932384" y="6476008"/>
            <a:ext cx="431978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800" dirty="0">
                <a:solidFill>
                  <a:srgbClr val="E9E9ED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Delaunay triangulation on target shape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543050" y="7022108"/>
            <a:ext cx="315119" cy="303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500"/>
              </a:lnSpc>
              <a:buNone/>
            </a:pPr>
            <a:r>
              <a:rPr lang="en-US" sz="1350" spc="81" kern="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934369" y="6971308"/>
            <a:ext cx="4635857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800" dirty="0">
                <a:solidFill>
                  <a:srgbClr val="E9E9ED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Piecewise-affine warp, triangle by triangle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448800" y="2496542"/>
            <a:ext cx="7791450" cy="7028458"/>
          </a:xfrm>
          <a:prstGeom prst="roundRect">
            <a:avLst>
              <a:gd name="adj" fmla="val 1897"/>
            </a:avLst>
          </a:prstGeom>
          <a:solidFill>
            <a:srgbClr val="232532"/>
          </a:solidFill>
          <a:ln/>
        </p:spPr>
      </p:sp>
      <p:sp>
        <p:nvSpPr>
          <p:cNvPr id="16" name="Text 14"/>
          <p:cNvSpPr/>
          <p:nvPr/>
        </p:nvSpPr>
        <p:spPr>
          <a:xfrm>
            <a:off x="9944100" y="2991842"/>
            <a:ext cx="748093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800" spc="180" kern="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944100" y="3544292"/>
            <a:ext cx="7480935" cy="5695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Detecting Face Morphs — DMorphNet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9944100" y="4285258"/>
            <a:ext cx="7004876" cy="1152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174"/>
              </a:lnSpc>
              <a:buNone/>
            </a:pPr>
            <a:r>
              <a:rPr lang="en-US" sz="1950" dirty="0">
                <a:solidFill>
                  <a:srgbClr val="E9E9ED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Reproducing a published detection method: EfficientNet-B6 features feeding an SVM classifier, and how our results compare to the paper.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9944100" y="5685433"/>
            <a:ext cx="6800850" cy="9525"/>
          </a:xfrm>
          <a:prstGeom prst="rect">
            <a:avLst/>
          </a:prstGeom>
          <a:gradFill rotWithShape="1">
            <a:gsLst>
              <a:gs pos="0">
                <a:srgbClr val="E6E6EC">
                  <a:alpha val="0"/>
                </a:srgbClr>
              </a:gs>
              <a:gs pos="50000">
                <a:srgbClr val="E6E6EC">
                  <a:alpha val="16000"/>
                </a:srgbClr>
              </a:gs>
              <a:gs pos="100000">
                <a:srgbClr val="E6E6EC">
                  <a:alpha val="16000"/>
                </a:srgbClr>
              </a:gs>
              <a:gs pos="100000">
                <a:srgbClr val="E6E6EC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20" name="Text 18"/>
          <p:cNvSpPr/>
          <p:nvPr/>
        </p:nvSpPr>
        <p:spPr>
          <a:xfrm>
            <a:off x="9944100" y="6031508"/>
            <a:ext cx="278606" cy="303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500"/>
              </a:lnSpc>
              <a:buNone/>
            </a:pPr>
            <a:r>
              <a:rPr lang="en-US" sz="1350" spc="81" kern="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0298906" y="5980708"/>
            <a:ext cx="459896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800" dirty="0">
                <a:solidFill>
                  <a:srgbClr val="E9E9ED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Resize 528×528 + CLAHE preprocessing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944100" y="6526808"/>
            <a:ext cx="313134" cy="303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500"/>
              </a:lnSpc>
              <a:buNone/>
            </a:pPr>
            <a:r>
              <a:rPr lang="en-US" sz="1350" spc="81" kern="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0333434" y="6476008"/>
            <a:ext cx="4677767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800" dirty="0">
                <a:solidFill>
                  <a:srgbClr val="E9E9ED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Frozen EfficientNet-B6 → 2304-d features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944100" y="7022108"/>
            <a:ext cx="315119" cy="303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500"/>
              </a:lnSpc>
              <a:buNone/>
            </a:pPr>
            <a:r>
              <a:rPr lang="en-US" sz="1350" spc="81" kern="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10335419" y="6971308"/>
            <a:ext cx="403820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800" dirty="0">
                <a:solidFill>
                  <a:srgbClr val="E9E9ED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SVM (RBF) classifies real vs. morph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353B80">
                  <a:alpha val="100000"/>
                </a:srgbClr>
              </a:gs>
              <a:gs pos="70000">
                <a:srgbClr val="262A60">
                  <a:alpha val="100000"/>
                </a:srgbClr>
              </a:gs>
            </a:gsLst>
            <a:path path="circle">
              <a:fillToRect l="20000" t="30000" r="80000" b="7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047750" y="3796903"/>
            <a:ext cx="178117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1500" spc="210" kern="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47750" y="4263628"/>
            <a:ext cx="17811750" cy="778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065"/>
              </a:lnSpc>
              <a:buNone/>
            </a:pPr>
            <a:r>
              <a:rPr lang="en-US" sz="5400" spc="-81" kern="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Generating Face Morphs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1047750" y="5194697"/>
            <a:ext cx="11576685" cy="152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706"/>
              </a:lnSpc>
              <a:buNone/>
            </a:pPr>
            <a:r>
              <a:rPr lang="en-US" sz="3000" dirty="0">
                <a:solidFill>
                  <a:srgbClr val="EAEAEE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classical, landmark-based morphing pipeline — the same family of methods used to study morphing attacks in the biometrics literature.</a:t>
            </a:r>
            <a:endParaRPr lang="en-US" sz="3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1500" spc="210" kern="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047750" y="1419225"/>
            <a:ext cx="17811750" cy="6963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255"/>
              </a:lnSpc>
              <a:buNone/>
            </a:pPr>
            <a:r>
              <a:rPr lang="en-US" sz="4800" spc="-72" kern="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steps turn two photos into one morph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047750" y="2248892"/>
            <a:ext cx="1781175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808"/>
              </a:lnSpc>
              <a:buNone/>
            </a:pPr>
            <a:r>
              <a:rPr lang="en-US" sz="2250" dirty="0">
                <a:solidFill>
                  <a:srgbClr val="E9E9ED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Delaunay-triangulation morphing (Beier–Neely family), as used in face-morphing-attack research such as Ferrara et al., 2014.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1047750" y="3096617"/>
            <a:ext cx="3590925" cy="6428383"/>
          </a:xfrm>
          <a:prstGeom prst="roundRect">
            <a:avLst>
              <a:gd name="adj" fmla="val 3714"/>
            </a:avLst>
          </a:prstGeom>
          <a:solidFill>
            <a:srgbClr val="232532"/>
          </a:solidFill>
          <a:ln/>
        </p:spPr>
      </p:sp>
      <p:sp>
        <p:nvSpPr>
          <p:cNvPr id="6" name="Text 4"/>
          <p:cNvSpPr/>
          <p:nvPr/>
        </p:nvSpPr>
        <p:spPr>
          <a:xfrm>
            <a:off x="1409700" y="3515717"/>
            <a:ext cx="3153728" cy="3627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605"/>
              </a:lnSpc>
              <a:buNone/>
            </a:pPr>
            <a:r>
              <a:rPr lang="en-US" sz="1650" spc="99" kern="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409700" y="3992761"/>
            <a:ext cx="3153728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135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 landmarks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409700" y="4588073"/>
            <a:ext cx="2953036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800" dirty="0">
                <a:solidFill>
                  <a:srgbClr val="E9E9ED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MediaPipe finds 478 facial points per face.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09700" y="8763000"/>
            <a:ext cx="315372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E9E9ED">
                    <a:alpha val="39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landmarks.py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752975" y="6305947"/>
            <a:ext cx="381000" cy="9525"/>
          </a:xfrm>
          <a:prstGeom prst="rect">
            <a:avLst/>
          </a:prstGeom>
          <a:solidFill>
            <a:srgbClr val="968AE0"/>
          </a:solidFill>
          <a:ln/>
        </p:spPr>
      </p:sp>
      <p:sp>
        <p:nvSpPr>
          <p:cNvPr id="11" name="Shape 9"/>
          <p:cNvSpPr/>
          <p:nvPr/>
        </p:nvSpPr>
        <p:spPr>
          <a:xfrm>
            <a:off x="5248275" y="3096617"/>
            <a:ext cx="3590925" cy="6428383"/>
          </a:xfrm>
          <a:prstGeom prst="roundRect">
            <a:avLst>
              <a:gd name="adj" fmla="val 3714"/>
            </a:avLst>
          </a:prstGeom>
          <a:solidFill>
            <a:srgbClr val="232532"/>
          </a:solidFill>
          <a:ln/>
        </p:spPr>
      </p:sp>
      <p:sp>
        <p:nvSpPr>
          <p:cNvPr id="12" name="Text 10"/>
          <p:cNvSpPr/>
          <p:nvPr/>
        </p:nvSpPr>
        <p:spPr>
          <a:xfrm>
            <a:off x="5610225" y="3515717"/>
            <a:ext cx="3153728" cy="3627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605"/>
              </a:lnSpc>
              <a:buNone/>
            </a:pPr>
            <a:r>
              <a:rPr lang="en-US" sz="1650" spc="99" kern="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5610225" y="3992761"/>
            <a:ext cx="3153728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135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Triangulate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5610225" y="4588073"/>
            <a:ext cx="2953036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800" dirty="0">
                <a:solidFill>
                  <a:srgbClr val="E9E9ED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Points form a Delaunay mesh on the target shape.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610225" y="8763000"/>
            <a:ext cx="315372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E9E9ED">
                    <a:alpha val="39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morph.py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953500" y="6305947"/>
            <a:ext cx="381000" cy="9525"/>
          </a:xfrm>
          <a:prstGeom prst="rect">
            <a:avLst/>
          </a:prstGeom>
          <a:solidFill>
            <a:srgbClr val="968AE0"/>
          </a:solidFill>
          <a:ln/>
        </p:spPr>
      </p:sp>
      <p:sp>
        <p:nvSpPr>
          <p:cNvPr id="17" name="Shape 15"/>
          <p:cNvSpPr/>
          <p:nvPr/>
        </p:nvSpPr>
        <p:spPr>
          <a:xfrm>
            <a:off x="9448800" y="3096617"/>
            <a:ext cx="3590925" cy="6428383"/>
          </a:xfrm>
          <a:prstGeom prst="roundRect">
            <a:avLst>
              <a:gd name="adj" fmla="val 3714"/>
            </a:avLst>
          </a:prstGeom>
          <a:solidFill>
            <a:srgbClr val="232532"/>
          </a:solidFill>
          <a:ln/>
        </p:spPr>
      </p:sp>
      <p:sp>
        <p:nvSpPr>
          <p:cNvPr id="18" name="Text 16"/>
          <p:cNvSpPr/>
          <p:nvPr/>
        </p:nvSpPr>
        <p:spPr>
          <a:xfrm>
            <a:off x="9810750" y="3515717"/>
            <a:ext cx="3153728" cy="3627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605"/>
              </a:lnSpc>
              <a:buNone/>
            </a:pPr>
            <a:r>
              <a:rPr lang="en-US" sz="1650" spc="99" kern="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9810750" y="3992761"/>
            <a:ext cx="3153728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135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Warp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9810750" y="4588073"/>
            <a:ext cx="2953036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800" dirty="0">
                <a:solidFill>
                  <a:srgbClr val="E9E9ED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triangle is affine-warped into place.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810750" y="8763000"/>
            <a:ext cx="315372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E9E9ED">
                    <a:alpha val="39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_warp_triangle()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3154025" y="6305947"/>
            <a:ext cx="381000" cy="9525"/>
          </a:xfrm>
          <a:prstGeom prst="rect">
            <a:avLst/>
          </a:prstGeom>
          <a:solidFill>
            <a:srgbClr val="968AE0"/>
          </a:solidFill>
          <a:ln/>
        </p:spPr>
      </p:sp>
      <p:sp>
        <p:nvSpPr>
          <p:cNvPr id="23" name="Shape 21"/>
          <p:cNvSpPr/>
          <p:nvPr/>
        </p:nvSpPr>
        <p:spPr>
          <a:xfrm>
            <a:off x="13649325" y="3096617"/>
            <a:ext cx="3590925" cy="6428383"/>
          </a:xfrm>
          <a:prstGeom prst="roundRect">
            <a:avLst>
              <a:gd name="adj" fmla="val 3714"/>
            </a:avLst>
          </a:prstGeom>
          <a:solidFill>
            <a:srgbClr val="232532"/>
          </a:solidFill>
          <a:ln/>
        </p:spPr>
      </p:sp>
      <p:sp>
        <p:nvSpPr>
          <p:cNvPr id="24" name="Text 22"/>
          <p:cNvSpPr/>
          <p:nvPr/>
        </p:nvSpPr>
        <p:spPr>
          <a:xfrm>
            <a:off x="14011275" y="3515717"/>
            <a:ext cx="3153728" cy="3627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605"/>
              </a:lnSpc>
              <a:buNone/>
            </a:pPr>
            <a:r>
              <a:rPr lang="en-US" sz="1650" spc="99" kern="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14011275" y="3992761"/>
            <a:ext cx="3153728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135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Cross-dissolve</a:t>
            </a:r>
            <a:endParaRPr lang="en-US" sz="2250" dirty="0"/>
          </a:p>
        </p:txBody>
      </p:sp>
      <p:sp>
        <p:nvSpPr>
          <p:cNvPr id="26" name="Text 24"/>
          <p:cNvSpPr/>
          <p:nvPr/>
        </p:nvSpPr>
        <p:spPr>
          <a:xfrm>
            <a:off x="14011275" y="4588073"/>
            <a:ext cx="2953036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800" dirty="0">
                <a:solidFill>
                  <a:srgbClr val="E9E9ED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Warped pixels are alpha-blended together.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4011275" y="8763000"/>
            <a:ext cx="315372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E9E9ED">
                    <a:alpha val="39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morph_images()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627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605"/>
              </a:lnSpc>
              <a:buNone/>
            </a:pPr>
            <a:r>
              <a:rPr lang="en-US" sz="1650" spc="99" kern="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01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47750" y="1410494"/>
            <a:ext cx="17811750" cy="6963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255"/>
              </a:lnSpc>
              <a:buNone/>
            </a:pPr>
            <a:r>
              <a:rPr lang="en-US" sz="4800" spc="-72" kern="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Landmark detection &amp; alignment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047750" y="5162947"/>
            <a:ext cx="9258282" cy="1323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808"/>
              </a:lnSpc>
              <a:buNone/>
            </a:pPr>
            <a:r>
              <a:rPr lang="en-US" sz="2250" dirty="0">
                <a:solidFill>
                  <a:srgbClr val="E9E9ED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face is passed through </a:t>
            </a:r>
            <a:pPr algn="l" indent="0" marL="0">
              <a:lnSpc>
                <a:spcPct val="129808"/>
              </a:lnSpc>
              <a:buNone/>
            </a:pPr>
            <a:r>
              <a:rPr lang="en-US" sz="2250" b="1" dirty="0">
                <a:solidFill>
                  <a:srgbClr val="E9E9ED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MediaPipe FaceLandmarker </a:t>
            </a:r>
            <a:pPr algn="l" indent="0" marL="0">
              <a:lnSpc>
                <a:spcPct val="129808"/>
              </a:lnSpc>
              <a:buNone/>
            </a:pPr>
            <a:r>
              <a:rPr lang="en-US" sz="2250" dirty="0">
                <a:solidFill>
                  <a:srgbClr val="E9E9ED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which returns 478 dense facial landmarks — after a 3× bicubic upscale of the small LFW crops for more reliable tracking.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1047750" y="6696472"/>
            <a:ext cx="9258282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808"/>
              </a:lnSpc>
              <a:buNone/>
            </a:pPr>
            <a:r>
              <a:rPr lang="en-US" sz="2250" dirty="0">
                <a:solidFill>
                  <a:srgbClr val="E9E9ED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Since MediaPipe tracks only the face mesh, we append </a:t>
            </a:r>
            <a:pPr algn="l" indent="0" marL="0">
              <a:lnSpc>
                <a:spcPct val="129808"/>
              </a:lnSpc>
              <a:buNone/>
            </a:pPr>
            <a:r>
              <a:rPr lang="en-US" sz="2250" b="1" dirty="0">
                <a:solidFill>
                  <a:srgbClr val="E9E9ED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fixed boundary points </a:t>
            </a:r>
            <a:pPr algn="l" indent="0" marL="0">
              <a:lnSpc>
                <a:spcPct val="129808"/>
              </a:lnSpc>
              <a:buNone/>
            </a:pPr>
            <a:r>
              <a:rPr lang="en-US" sz="2250" dirty="0">
                <a:solidFill>
                  <a:srgbClr val="E9E9ED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the frame's corners and edge midpoints — to both landmark sets, so the background warps continuously with the face instead of tearing at its edges.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047750" y="8658622"/>
            <a:ext cx="9258282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808"/>
              </a:lnSpc>
              <a:buNone/>
            </a:pPr>
            <a:r>
              <a:rPr lang="en-US" sz="2250" dirty="0">
                <a:solidFill>
                  <a:srgbClr val="E9E9ED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Correspondence is purely index-based: point </a:t>
            </a:r>
            <a:pPr algn="l" indent="0" marL="0">
              <a:lnSpc>
                <a:spcPct val="129808"/>
              </a:lnSpc>
              <a:buNone/>
            </a:pPr>
            <a:r>
              <a:rPr lang="en-US" sz="2250" i="1" dirty="0">
                <a:solidFill>
                  <a:srgbClr val="E9E9ED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</a:t>
            </a:r>
            <a:pPr algn="l" indent="0" marL="0">
              <a:lnSpc>
                <a:spcPct val="129808"/>
              </a:lnSpc>
              <a:buNone/>
            </a:pPr>
            <a:r>
              <a:rPr lang="en-US" sz="2250" dirty="0">
                <a:solidFill>
                  <a:srgbClr val="E9E9ED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Subject A always maps to point </a:t>
            </a:r>
            <a:pPr algn="l" indent="0" marL="0">
              <a:lnSpc>
                <a:spcPct val="129808"/>
              </a:lnSpc>
              <a:buNone/>
            </a:pPr>
            <a:r>
              <a:rPr lang="en-US" sz="2250" i="1" dirty="0">
                <a:solidFill>
                  <a:srgbClr val="E9E9ED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</a:t>
            </a:r>
            <a:pPr algn="l" indent="0" marL="0">
              <a:lnSpc>
                <a:spcPct val="129808"/>
              </a:lnSpc>
              <a:buNone/>
            </a:pPr>
            <a:r>
              <a:rPr lang="en-US" sz="2250" dirty="0">
                <a:solidFill>
                  <a:srgbClr val="E9E9ED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Subject B.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10703123" y="2487811"/>
            <a:ext cx="6537127" cy="8281194"/>
          </a:xfrm>
          <a:prstGeom prst="roundRect">
            <a:avLst>
              <a:gd name="adj" fmla="val 2040"/>
            </a:avLst>
          </a:prstGeom>
          <a:solidFill>
            <a:srgbClr val="11111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1" b="1"/>
          <a:stretch/>
        </p:blipFill>
        <p:spPr>
          <a:xfrm>
            <a:off x="10703123" y="2487811"/>
            <a:ext cx="6537127" cy="828119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0703123" y="10959505"/>
            <a:ext cx="3192264" cy="1231503"/>
          </a:xfrm>
          <a:prstGeom prst="roundRect">
            <a:avLst>
              <a:gd name="adj" fmla="val 10828"/>
            </a:avLst>
          </a:prstGeom>
          <a:solidFill>
            <a:srgbClr val="232532"/>
          </a:solidFill>
          <a:ln/>
        </p:spPr>
      </p:sp>
      <p:sp>
        <p:nvSpPr>
          <p:cNvPr id="10" name="Text 7"/>
          <p:cNvSpPr/>
          <p:nvPr/>
        </p:nvSpPr>
        <p:spPr>
          <a:xfrm>
            <a:off x="10794970" y="11188105"/>
            <a:ext cx="3008571" cy="5695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270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478</a:t>
            </a:r>
            <a:endParaRPr lang="en-US" sz="2700" dirty="0"/>
          </a:p>
        </p:txBody>
      </p:sp>
      <p:sp>
        <p:nvSpPr>
          <p:cNvPr id="11" name="Text 8"/>
          <p:cNvSpPr/>
          <p:nvPr/>
        </p:nvSpPr>
        <p:spPr>
          <a:xfrm>
            <a:off x="10794970" y="11719521"/>
            <a:ext cx="3008571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7500"/>
              </a:lnSpc>
              <a:buNone/>
            </a:pPr>
            <a:r>
              <a:rPr lang="en-US" sz="1275" dirty="0">
                <a:solidFill>
                  <a:srgbClr val="E9E9ED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landmarks</a:t>
            </a:r>
            <a:endParaRPr lang="en-US" sz="1275" dirty="0"/>
          </a:p>
        </p:txBody>
      </p:sp>
      <p:sp>
        <p:nvSpPr>
          <p:cNvPr id="12" name="Shape 9"/>
          <p:cNvSpPr/>
          <p:nvPr/>
        </p:nvSpPr>
        <p:spPr>
          <a:xfrm>
            <a:off x="14047788" y="10959505"/>
            <a:ext cx="3192463" cy="1231503"/>
          </a:xfrm>
          <a:prstGeom prst="roundRect">
            <a:avLst>
              <a:gd name="adj" fmla="val 10828"/>
            </a:avLst>
          </a:prstGeom>
          <a:solidFill>
            <a:srgbClr val="232532"/>
          </a:solidFill>
          <a:ln/>
        </p:spPr>
      </p:sp>
      <p:sp>
        <p:nvSpPr>
          <p:cNvPr id="13" name="Text 10"/>
          <p:cNvSpPr/>
          <p:nvPr/>
        </p:nvSpPr>
        <p:spPr>
          <a:xfrm>
            <a:off x="14139625" y="11188105"/>
            <a:ext cx="3008789" cy="5695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270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+ 8</a:t>
            </a:r>
            <a:endParaRPr lang="en-US" sz="2700" dirty="0"/>
          </a:p>
        </p:txBody>
      </p:sp>
      <p:sp>
        <p:nvSpPr>
          <p:cNvPr id="14" name="Text 11"/>
          <p:cNvSpPr/>
          <p:nvPr/>
        </p:nvSpPr>
        <p:spPr>
          <a:xfrm>
            <a:off x="14139625" y="11719521"/>
            <a:ext cx="3008789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7500"/>
              </a:lnSpc>
              <a:buNone/>
            </a:pPr>
            <a:r>
              <a:rPr lang="en-US" sz="1275" dirty="0">
                <a:solidFill>
                  <a:srgbClr val="E9E9ED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boundary points</a:t>
            </a:r>
            <a:endParaRPr lang="en-US" sz="12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627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605"/>
              </a:lnSpc>
              <a:buNone/>
            </a:pPr>
            <a:r>
              <a:rPr lang="en-US" sz="1650" spc="99" kern="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02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47750" y="1410494"/>
            <a:ext cx="17811750" cy="6963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255"/>
              </a:lnSpc>
              <a:buNone/>
            </a:pPr>
            <a:r>
              <a:rPr lang="en-US" sz="4800" spc="-72" kern="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Delaunay triangulation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047750" y="4281885"/>
            <a:ext cx="8884247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808"/>
              </a:lnSpc>
              <a:buNone/>
            </a:pPr>
            <a:r>
              <a:rPr lang="en-US" sz="2250" dirty="0">
                <a:solidFill>
                  <a:srgbClr val="E9E9ED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two landmark sets are averaged into a single </a:t>
            </a:r>
            <a:pPr algn="l" indent="0" marL="0">
              <a:lnSpc>
                <a:spcPct val="129808"/>
              </a:lnSpc>
              <a:buNone/>
            </a:pPr>
            <a:r>
              <a:rPr lang="en-US" sz="2250" b="1" dirty="0">
                <a:solidFill>
                  <a:srgbClr val="E9E9ED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shape</a:t>
            </a:r>
            <a:pPr algn="l" indent="0" marL="0">
              <a:lnSpc>
                <a:spcPct val="129808"/>
              </a:lnSpc>
              <a:buNone/>
            </a:pPr>
            <a:r>
              <a:rPr lang="en-US" sz="2250" dirty="0">
                <a:solidFill>
                  <a:srgbClr val="E9E9ED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pPr algn="l" indent="0" marL="0">
              <a:lnSpc>
                <a:spcPct val="129808"/>
              </a:lnSpc>
              <a:buNone/>
            </a:pPr>
            <a:r>
              <a:rPr lang="en-US" sz="2250" dirty="0">
                <a:solidFill>
                  <a:srgbClr val="D2CE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pts_morph = (1−α)·ptsA + α·ptsB</a:t>
            </a:r>
            <a:pPr algn="l" indent="0" marL="0">
              <a:lnSpc>
                <a:spcPct val="129808"/>
              </a:lnSpc>
              <a:buNone/>
            </a:pPr>
            <a:r>
              <a:rPr lang="en-US" sz="2250" dirty="0">
                <a:solidFill>
                  <a:srgbClr val="E9E9ED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1047750" y="5386785"/>
            <a:ext cx="8884247" cy="1323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808"/>
              </a:lnSpc>
              <a:buNone/>
            </a:pPr>
            <a:r>
              <a:rPr lang="en-US" sz="2250" dirty="0">
                <a:solidFill>
                  <a:srgbClr val="E9E9ED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target shape is triangulated once (OpenCV's </a:t>
            </a:r>
            <a:pPr algn="l" indent="0" marL="0">
              <a:lnSpc>
                <a:spcPct val="129808"/>
              </a:lnSpc>
              <a:buNone/>
            </a:pPr>
            <a:r>
              <a:rPr lang="en-US" sz="2250" dirty="0">
                <a:solidFill>
                  <a:srgbClr val="E9E9ED">
                    <a:alpha val="8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Subdiv2D </a:t>
            </a:r>
            <a:pPr algn="l" indent="0" marL="0">
              <a:lnSpc>
                <a:spcPct val="129808"/>
              </a:lnSpc>
              <a:buNone/>
            </a:pPr>
            <a:r>
              <a:rPr lang="en-US" sz="2250" dirty="0">
                <a:solidFill>
                  <a:srgbClr val="E9E9ED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), producing a mesh of non-overlapping triangles that covers the whole frame.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047750" y="6920310"/>
            <a:ext cx="8884247" cy="1323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808"/>
              </a:lnSpc>
              <a:buNone/>
            </a:pPr>
            <a:r>
              <a:rPr lang="en-US" sz="2250" dirty="0">
                <a:solidFill>
                  <a:srgbClr val="E9E9ED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both faces share the same point indices, this single triangulation is valid for warping </a:t>
            </a:r>
            <a:pPr algn="l" indent="0" marL="0">
              <a:lnSpc>
                <a:spcPct val="129808"/>
              </a:lnSpc>
              <a:buNone/>
            </a:pPr>
            <a:r>
              <a:rPr lang="en-US" sz="2250" i="1" dirty="0">
                <a:solidFill>
                  <a:srgbClr val="E9E9ED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</a:t>
            </a:r>
            <a:pPr algn="l" indent="0" marL="0">
              <a:lnSpc>
                <a:spcPct val="129808"/>
              </a:lnSpc>
              <a:buNone/>
            </a:pPr>
            <a:r>
              <a:rPr lang="en-US" sz="2250" dirty="0">
                <a:solidFill>
                  <a:srgbClr val="E9E9ED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 A and Subject B into the target geometry.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1047750" y="8530035"/>
            <a:ext cx="8625483" cy="1379934"/>
          </a:xfrm>
          <a:prstGeom prst="roundRect">
            <a:avLst>
              <a:gd name="adj" fmla="val 9664"/>
            </a:avLst>
          </a:prstGeom>
          <a:solidFill>
            <a:srgbClr val="292B31"/>
          </a:solidFill>
          <a:ln/>
        </p:spPr>
      </p:sp>
      <p:sp>
        <p:nvSpPr>
          <p:cNvPr id="8" name="Text 6"/>
          <p:cNvSpPr/>
          <p:nvPr/>
        </p:nvSpPr>
        <p:spPr>
          <a:xfrm>
            <a:off x="1314450" y="8758635"/>
            <a:ext cx="8334845" cy="9608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1406"/>
              </a:lnSpc>
              <a:buNone/>
            </a:pPr>
            <a:r>
              <a:rPr lang="en-US" sz="1425" dirty="0">
                <a:solidFill>
                  <a:srgbClr val="E9E9ED">
                    <a:alpha val="5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morph.py pts_morph = (1 - alpha) * pts1 + alpha * pts2 triangles = delaunay_triangulation(pts_morph, (w, h))</a:t>
            </a:r>
            <a:endParaRPr lang="en-US" sz="1425" dirty="0"/>
          </a:p>
        </p:txBody>
      </p:sp>
      <p:sp>
        <p:nvSpPr>
          <p:cNvPr id="9" name="Shape 7"/>
          <p:cNvSpPr/>
          <p:nvPr/>
        </p:nvSpPr>
        <p:spPr>
          <a:xfrm>
            <a:off x="10339983" y="2487811"/>
            <a:ext cx="6900267" cy="9216232"/>
          </a:xfrm>
          <a:prstGeom prst="roundRect">
            <a:avLst>
              <a:gd name="adj" fmla="val 1933"/>
            </a:avLst>
          </a:prstGeom>
          <a:solidFill>
            <a:srgbClr val="111111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339983" y="2487811"/>
            <a:ext cx="6900267" cy="921623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627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605"/>
              </a:lnSpc>
              <a:buNone/>
            </a:pPr>
            <a:r>
              <a:rPr lang="en-US" sz="1650" spc="99" kern="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03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47750" y="1410494"/>
            <a:ext cx="17811750" cy="6963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255"/>
              </a:lnSpc>
              <a:buNone/>
            </a:pPr>
            <a:r>
              <a:rPr lang="en-US" sz="4800" spc="-72" kern="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Piecewise-affine warping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047750" y="3829844"/>
            <a:ext cx="8416602" cy="1323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808"/>
              </a:lnSpc>
              <a:buNone/>
            </a:pPr>
            <a:r>
              <a:rPr lang="en-US" sz="2250" dirty="0">
                <a:solidFill>
                  <a:srgbClr val="E9E9ED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every triangle, we compute the affine transform that maps its </a:t>
            </a:r>
            <a:pPr algn="l" indent="0" marL="0">
              <a:lnSpc>
                <a:spcPct val="129808"/>
              </a:lnSpc>
              <a:buNone/>
            </a:pPr>
            <a:r>
              <a:rPr lang="en-US" sz="2250" b="1" dirty="0">
                <a:solidFill>
                  <a:srgbClr val="E9E9ED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vertices </a:t>
            </a:r>
            <a:pPr algn="l" indent="0" marL="0">
              <a:lnSpc>
                <a:spcPct val="129808"/>
              </a:lnSpc>
              <a:buNone/>
            </a:pPr>
            <a:r>
              <a:rPr lang="en-US" sz="2250" dirty="0">
                <a:solidFill>
                  <a:srgbClr val="E9E9ED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(in Subject A or B) to its </a:t>
            </a:r>
            <a:pPr algn="l" indent="0" marL="0">
              <a:lnSpc>
                <a:spcPct val="129808"/>
              </a:lnSpc>
              <a:buNone/>
            </a:pPr>
            <a:r>
              <a:rPr lang="en-US" sz="2250" b="1" dirty="0">
                <a:solidFill>
                  <a:srgbClr val="E9E9ED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vertices </a:t>
            </a:r>
            <a:pPr algn="l" indent="0" marL="0">
              <a:lnSpc>
                <a:spcPct val="129808"/>
              </a:lnSpc>
              <a:buNone/>
            </a:pPr>
            <a:r>
              <a:rPr lang="en-US" sz="2250" dirty="0">
                <a:solidFill>
                  <a:srgbClr val="E9E9ED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(in the averaged shape) — via </a:t>
            </a:r>
            <a:pPr algn="l" indent="0" marL="0">
              <a:lnSpc>
                <a:spcPct val="129808"/>
              </a:lnSpc>
              <a:buNone/>
            </a:pPr>
            <a:r>
              <a:rPr lang="en-US" sz="2250" dirty="0">
                <a:solidFill>
                  <a:srgbClr val="D2CE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cv2.getAffineTransform</a:t>
            </a:r>
            <a:pPr algn="l" indent="0" marL="0">
              <a:lnSpc>
                <a:spcPct val="129808"/>
              </a:lnSpc>
              <a:buNone/>
            </a:pPr>
            <a:r>
              <a:rPr lang="en-US" sz="2250" dirty="0">
                <a:solidFill>
                  <a:srgbClr val="E9E9ED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1047750" y="5363369"/>
            <a:ext cx="8416602" cy="1323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808"/>
              </a:lnSpc>
              <a:buNone/>
            </a:pPr>
            <a:r>
              <a:rPr lang="en-US" sz="2250" dirty="0">
                <a:solidFill>
                  <a:srgbClr val="E9E9ED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transform warps the triangular patch with </a:t>
            </a:r>
            <a:pPr algn="l" indent="0" marL="0">
              <a:lnSpc>
                <a:spcPct val="129808"/>
              </a:lnSpc>
              <a:buNone/>
            </a:pPr>
            <a:r>
              <a:rPr lang="en-US" sz="2250" dirty="0">
                <a:solidFill>
                  <a:srgbClr val="D2CE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cv2.warpAffine </a:t>
            </a:r>
            <a:pPr algn="l" indent="0" marL="0">
              <a:lnSpc>
                <a:spcPct val="129808"/>
              </a:lnSpc>
              <a:buNone/>
            </a:pPr>
            <a:r>
              <a:rPr lang="en-US" sz="2250" dirty="0">
                <a:solidFill>
                  <a:srgbClr val="E9E9ED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and a filled-polygon mask composites it cleanly into the output canvas, one triangle at a time.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047750" y="6896894"/>
            <a:ext cx="8416602" cy="1323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808"/>
              </a:lnSpc>
              <a:buNone/>
            </a:pPr>
            <a:r>
              <a:rPr lang="en-US" sz="2250" dirty="0">
                <a:solidFill>
                  <a:srgbClr val="E9E9ED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separately for Subject A and Subject B, this produces two fully warped images that already share the same target geometry.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9885958" y="4301927"/>
            <a:ext cx="7354292" cy="3408759"/>
          </a:xfrm>
          <a:prstGeom prst="roundRect">
            <a:avLst>
              <a:gd name="adj" fmla="val 3912"/>
            </a:avLst>
          </a:prstGeom>
          <a:solidFill>
            <a:srgbClr val="FFFFF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85958" y="4301927"/>
            <a:ext cx="7354292" cy="340875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1500" spc="210" kern="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047750" y="1419225"/>
            <a:ext cx="17811750" cy="6963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255"/>
              </a:lnSpc>
              <a:buNone/>
            </a:pPr>
            <a:r>
              <a:rPr lang="en-US" sz="4800" spc="-72" kern="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 morph pairs generated from LFW faces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047750" y="2229842"/>
            <a:ext cx="1781175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808"/>
              </a:lnSpc>
              <a:buNone/>
            </a:pPr>
            <a:r>
              <a:rPr lang="en-US" sz="2250" dirty="0">
                <a:solidFill>
                  <a:srgbClr val="E9E9ED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of the five featured triptychs — Subject A · morph (α=0.5) · Subject B.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1047750" y="5087342"/>
            <a:ext cx="5168900" cy="2427684"/>
          </a:xfrm>
          <a:prstGeom prst="roundRect">
            <a:avLst>
              <a:gd name="adj" fmla="val 5493"/>
            </a:avLst>
          </a:prstGeom>
          <a:solidFill>
            <a:srgbClr val="F3F5F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750" y="5087342"/>
            <a:ext cx="5168900" cy="242768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559550" y="5087342"/>
            <a:ext cx="5168900" cy="2427684"/>
          </a:xfrm>
          <a:prstGeom prst="roundRect">
            <a:avLst>
              <a:gd name="adj" fmla="val 5493"/>
            </a:avLst>
          </a:prstGeom>
          <a:solidFill>
            <a:srgbClr val="F3F5FE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9550" y="5087342"/>
            <a:ext cx="5168900" cy="242768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2071350" y="5087342"/>
            <a:ext cx="5168900" cy="2427684"/>
          </a:xfrm>
          <a:prstGeom prst="roundRect">
            <a:avLst>
              <a:gd name="adj" fmla="val 5493"/>
            </a:avLst>
          </a:prstGeom>
          <a:solidFill>
            <a:srgbClr val="F3F5FE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1350" y="5087342"/>
            <a:ext cx="5168900" cy="242768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1500" spc="210" kern="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OBSERVATIONS &amp; LIMITATIONS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047750" y="1419225"/>
            <a:ext cx="17811750" cy="6963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255"/>
              </a:lnSpc>
              <a:buNone/>
            </a:pPr>
            <a:r>
              <a:rPr lang="en-US" sz="4800" spc="-72" kern="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works, and where the pipeline shows its seams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047750" y="4934347"/>
            <a:ext cx="76200" cy="76200"/>
          </a:xfrm>
          <a:prstGeom prst="ellipse">
            <a:avLst/>
          </a:prstGeom>
          <a:solidFill>
            <a:srgbClr val="9184D9"/>
          </a:solidFill>
          <a:ln/>
        </p:spPr>
      </p:sp>
      <p:sp>
        <p:nvSpPr>
          <p:cNvPr id="5" name="Text 3"/>
          <p:cNvSpPr/>
          <p:nvPr/>
        </p:nvSpPr>
        <p:spPr>
          <a:xfrm>
            <a:off x="1390650" y="4781947"/>
            <a:ext cx="1673671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808"/>
              </a:lnSpc>
              <a:buNone/>
            </a:pPr>
            <a:r>
              <a:rPr lang="en-US" sz="2250" dirty="0">
                <a:solidFill>
                  <a:srgbClr val="E9E9ED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α=0.5, morphs convincingly blend both identities into one face — demonstrating real vulnerability to morphing attacks.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1047750" y="5610622"/>
            <a:ext cx="76200" cy="76200"/>
          </a:xfrm>
          <a:prstGeom prst="ellipse">
            <a:avLst/>
          </a:prstGeom>
          <a:solidFill>
            <a:srgbClr val="9184D9"/>
          </a:solidFill>
          <a:ln/>
        </p:spPr>
      </p:sp>
      <p:sp>
        <p:nvSpPr>
          <p:cNvPr id="7" name="Text 5"/>
          <p:cNvSpPr/>
          <p:nvPr/>
        </p:nvSpPr>
        <p:spPr>
          <a:xfrm>
            <a:off x="1390650" y="5458222"/>
            <a:ext cx="14693821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808"/>
              </a:lnSpc>
              <a:buNone/>
            </a:pPr>
            <a:r>
              <a:rPr lang="en-US" sz="2250" dirty="0">
                <a:solidFill>
                  <a:srgbClr val="E9E9ED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Mismatched pose or expression (e.g. open mouth vs. closed lips) creates visible ghosting and double lips.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1047750" y="6286897"/>
            <a:ext cx="76200" cy="76200"/>
          </a:xfrm>
          <a:prstGeom prst="ellipse">
            <a:avLst/>
          </a:prstGeom>
          <a:solidFill>
            <a:srgbClr val="9184D9"/>
          </a:solidFill>
          <a:ln/>
        </p:spPr>
      </p:sp>
      <p:sp>
        <p:nvSpPr>
          <p:cNvPr id="9" name="Text 7"/>
          <p:cNvSpPr/>
          <p:nvPr/>
        </p:nvSpPr>
        <p:spPr>
          <a:xfrm>
            <a:off x="1390650" y="6134497"/>
            <a:ext cx="16999962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808"/>
              </a:lnSpc>
              <a:buNone/>
            </a:pPr>
            <a:r>
              <a:rPr lang="en-US" sz="2250" dirty="0">
                <a:solidFill>
                  <a:srgbClr val="E9E9ED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Accessories unique to one subject — glasses, hair bangs — fade in semi-transparently rather than keeping solid structure.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1047750" y="6963172"/>
            <a:ext cx="76200" cy="76200"/>
          </a:xfrm>
          <a:prstGeom prst="ellipse">
            <a:avLst/>
          </a:prstGeom>
          <a:solidFill>
            <a:srgbClr val="9184D9"/>
          </a:solidFill>
          <a:ln/>
        </p:spPr>
      </p:sp>
      <p:sp>
        <p:nvSpPr>
          <p:cNvPr id="11" name="Text 9"/>
          <p:cNvSpPr/>
          <p:nvPr/>
        </p:nvSpPr>
        <p:spPr>
          <a:xfrm>
            <a:off x="1390650" y="6810772"/>
            <a:ext cx="17176334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808"/>
              </a:lnSpc>
              <a:buNone/>
            </a:pPr>
            <a:r>
              <a:rPr lang="en-US" sz="2250" dirty="0">
                <a:solidFill>
                  <a:srgbClr val="E9E9ED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cross-dissolve (not Poisson/gradient-domain cloning) means lighting and skin-tone differences aren't color-corrected.</a:t>
            </a:r>
            <a:endParaRPr lang="en-US" sz="2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353B80">
                  <a:alpha val="100000"/>
                </a:srgbClr>
              </a:gs>
              <a:gs pos="70000">
                <a:srgbClr val="262A60">
                  <a:alpha val="100000"/>
                </a:srgbClr>
              </a:gs>
            </a:gsLst>
            <a:path path="circle">
              <a:fillToRect l="20000" t="30000" r="80000" b="7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047750" y="4044553"/>
            <a:ext cx="178117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1500" spc="210" kern="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47750" y="4511278"/>
            <a:ext cx="17811750" cy="7786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065"/>
              </a:lnSpc>
              <a:buNone/>
            </a:pPr>
            <a:r>
              <a:rPr lang="en-US" sz="5400" spc="-81" kern="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Detecting Face Morphs — DMorphNet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1047750" y="5442347"/>
            <a:ext cx="11576685" cy="1028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706"/>
              </a:lnSpc>
              <a:buNone/>
            </a:pPr>
            <a:r>
              <a:rPr lang="en-US" sz="3000" dirty="0">
                <a:solidFill>
                  <a:srgbClr val="EAEAEE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Reproducing a published morph-detection method to see whether the morphs we can generate can also be caught.</a:t>
            </a:r>
            <a:endParaRPr lang="en-US" sz="3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1500" spc="210" kern="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047750" y="1419225"/>
            <a:ext cx="17811750" cy="6963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255"/>
              </a:lnSpc>
              <a:buNone/>
            </a:pPr>
            <a:r>
              <a:rPr lang="en-US" sz="4800" spc="-72" kern="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deep-feature + SVM detector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047750" y="2229842"/>
            <a:ext cx="12753975" cy="1323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808"/>
              </a:lnSpc>
              <a:buNone/>
            </a:pPr>
            <a:r>
              <a:rPr lang="en-US" sz="2250" dirty="0">
                <a:solidFill>
                  <a:srgbClr val="E9E9ED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implement </a:t>
            </a:r>
            <a:pPr algn="l" indent="0" marL="0">
              <a:lnSpc>
                <a:spcPct val="129808"/>
              </a:lnSpc>
              <a:buNone/>
            </a:pPr>
            <a:r>
              <a:rPr lang="en-US" sz="2250" b="1" dirty="0">
                <a:solidFill>
                  <a:srgbClr val="E9E9ED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DMorphNet </a:t>
            </a:r>
            <a:pPr algn="l" indent="0" marL="0">
              <a:lnSpc>
                <a:spcPct val="129808"/>
              </a:lnSpc>
              <a:buNone/>
            </a:pPr>
            <a:r>
              <a:rPr lang="en-US" sz="2250" dirty="0">
                <a:solidFill>
                  <a:srgbClr val="E9E9ED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(Gawade et al., COMPUTATIA 2026): classify a face as real or morphed using frozen EfficientNet-B6 features and an SVM classifier — no network training required.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1047750" y="3934817"/>
            <a:ext cx="3579813" cy="5590183"/>
          </a:xfrm>
          <a:prstGeom prst="roundRect">
            <a:avLst>
              <a:gd name="adj" fmla="val 3725"/>
            </a:avLst>
          </a:prstGeom>
          <a:solidFill>
            <a:srgbClr val="232532"/>
          </a:solidFill>
          <a:ln/>
        </p:spPr>
      </p:sp>
      <p:sp>
        <p:nvSpPr>
          <p:cNvPr id="6" name="Text 4"/>
          <p:cNvSpPr/>
          <p:nvPr/>
        </p:nvSpPr>
        <p:spPr>
          <a:xfrm>
            <a:off x="1333500" y="4315817"/>
            <a:ext cx="3309144" cy="421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413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 image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333500" y="4832945"/>
            <a:ext cx="3098562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800" dirty="0">
                <a:solidFill>
                  <a:srgbClr val="E9E9ED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Resize to 528×528 + CLAHE contrast enhancement.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333500" y="8328819"/>
            <a:ext cx="3008313" cy="815181"/>
          </a:xfrm>
          <a:prstGeom prst="roundRect">
            <a:avLst>
              <a:gd name="adj" fmla="val 4674"/>
            </a:avLst>
          </a:prstGeom>
          <a:solidFill>
            <a:srgbClr val="292B31">
              <a:alpha val="7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485900" y="8462169"/>
            <a:ext cx="2793762" cy="5865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4000"/>
              </a:lnSpc>
              <a:buNone/>
            </a:pPr>
            <a:r>
              <a:rPr lang="en-US" sz="1350" dirty="0">
                <a:solidFill>
                  <a:srgbClr val="E9E9ED">
                    <a:alpha val="49000"/>
                  </a:srgbClr>
                </a:solidFill>
                <a:highlight>
                  <a:srgbClr val="24262E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cv2.resize(img, (528,528)) clahe.apply(L channel)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722813" y="6725047"/>
            <a:ext cx="266700" cy="9525"/>
          </a:xfrm>
          <a:prstGeom prst="rect">
            <a:avLst/>
          </a:prstGeom>
          <a:solidFill>
            <a:srgbClr val="968AE0"/>
          </a:solidFill>
          <a:ln/>
        </p:spPr>
      </p:sp>
      <p:sp>
        <p:nvSpPr>
          <p:cNvPr id="11" name="Shape 9"/>
          <p:cNvSpPr/>
          <p:nvPr/>
        </p:nvSpPr>
        <p:spPr>
          <a:xfrm>
            <a:off x="5084763" y="3934817"/>
            <a:ext cx="4081463" cy="5590183"/>
          </a:xfrm>
          <a:prstGeom prst="roundRect">
            <a:avLst>
              <a:gd name="adj" fmla="val 3267"/>
            </a:avLst>
          </a:prstGeom>
          <a:solidFill>
            <a:srgbClr val="232532"/>
          </a:solidFill>
          <a:ln/>
        </p:spPr>
      </p:sp>
      <p:sp>
        <p:nvSpPr>
          <p:cNvPr id="12" name="Text 10"/>
          <p:cNvSpPr/>
          <p:nvPr/>
        </p:nvSpPr>
        <p:spPr>
          <a:xfrm>
            <a:off x="5370513" y="4315817"/>
            <a:ext cx="3860959" cy="421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413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EfficientNet-B6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5370513" y="4832945"/>
            <a:ext cx="3615261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800" dirty="0">
                <a:solidFill>
                  <a:srgbClr val="E9E9ED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Frozen, pretrained; classifier head removed. Global Average Pooling → 2304-d feature vector.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370513" y="8328819"/>
            <a:ext cx="3509963" cy="815181"/>
          </a:xfrm>
          <a:prstGeom prst="roundRect">
            <a:avLst>
              <a:gd name="adj" fmla="val 4674"/>
            </a:avLst>
          </a:prstGeom>
          <a:solidFill>
            <a:srgbClr val="292B31">
              <a:alpha val="7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522913" y="8462169"/>
            <a:ext cx="3310461" cy="5865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4000"/>
              </a:lnSpc>
              <a:buNone/>
            </a:pPr>
            <a:r>
              <a:rPr lang="en-US" sz="1350" dirty="0">
                <a:solidFill>
                  <a:srgbClr val="E9E9ED">
                    <a:alpha val="49000"/>
                  </a:srgbClr>
                </a:solidFill>
                <a:highlight>
                  <a:srgbClr val="24262E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EfficientNetB6(weights='imagenet', include_top=False, pooling='avg')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9261475" y="6725047"/>
            <a:ext cx="266700" cy="9525"/>
          </a:xfrm>
          <a:prstGeom prst="rect">
            <a:avLst/>
          </a:prstGeom>
          <a:solidFill>
            <a:srgbClr val="968AE0"/>
          </a:solidFill>
          <a:ln/>
        </p:spPr>
      </p:sp>
      <p:sp>
        <p:nvSpPr>
          <p:cNvPr id="17" name="Shape 15"/>
          <p:cNvSpPr/>
          <p:nvPr/>
        </p:nvSpPr>
        <p:spPr>
          <a:xfrm>
            <a:off x="9623425" y="3934817"/>
            <a:ext cx="3579813" cy="5590183"/>
          </a:xfrm>
          <a:prstGeom prst="roundRect">
            <a:avLst>
              <a:gd name="adj" fmla="val 3725"/>
            </a:avLst>
          </a:prstGeom>
          <a:solidFill>
            <a:srgbClr val="232532"/>
          </a:solidFill>
          <a:ln/>
        </p:spPr>
      </p:sp>
      <p:sp>
        <p:nvSpPr>
          <p:cNvPr id="18" name="Text 16"/>
          <p:cNvSpPr/>
          <p:nvPr/>
        </p:nvSpPr>
        <p:spPr>
          <a:xfrm>
            <a:off x="9909175" y="4315817"/>
            <a:ext cx="3309144" cy="421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413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SVM (RBF)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9909175" y="4832945"/>
            <a:ext cx="3098562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800" dirty="0">
                <a:solidFill>
                  <a:srgbClr val="E9E9ED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Trained on the 2304-d vectors, with threshold optimized on a validation set.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909175" y="8328819"/>
            <a:ext cx="3008313" cy="815181"/>
          </a:xfrm>
          <a:prstGeom prst="roundRect">
            <a:avLst>
              <a:gd name="adj" fmla="val 4674"/>
            </a:avLst>
          </a:prstGeom>
          <a:solidFill>
            <a:srgbClr val="292B31">
              <a:alpha val="7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0061575" y="8462169"/>
            <a:ext cx="2793762" cy="5865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4000"/>
              </a:lnSpc>
              <a:buNone/>
            </a:pPr>
            <a:r>
              <a:rPr lang="en-US" sz="1350" dirty="0">
                <a:solidFill>
                  <a:srgbClr val="E9E9ED">
                    <a:alpha val="49000"/>
                  </a:srgbClr>
                </a:solidFill>
                <a:highlight>
                  <a:srgbClr val="24262E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SVC(kernel="rbf", C=10.0, gamma="scale")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13298488" y="6725047"/>
            <a:ext cx="266700" cy="9525"/>
          </a:xfrm>
          <a:prstGeom prst="rect">
            <a:avLst/>
          </a:prstGeom>
          <a:solidFill>
            <a:srgbClr val="968AE0"/>
          </a:solidFill>
          <a:ln/>
        </p:spPr>
      </p:sp>
      <p:sp>
        <p:nvSpPr>
          <p:cNvPr id="23" name="Shape 21"/>
          <p:cNvSpPr/>
          <p:nvPr/>
        </p:nvSpPr>
        <p:spPr>
          <a:xfrm>
            <a:off x="13660438" y="3934817"/>
            <a:ext cx="3579813" cy="5590183"/>
          </a:xfrm>
          <a:prstGeom prst="roundRect">
            <a:avLst>
              <a:gd name="adj" fmla="val 3725"/>
            </a:avLst>
          </a:prstGeom>
          <a:solidFill>
            <a:srgbClr val="423A6A"/>
          </a:solidFill>
          <a:ln/>
        </p:spPr>
      </p:sp>
      <p:sp>
        <p:nvSpPr>
          <p:cNvPr id="24" name="Text 22"/>
          <p:cNvSpPr/>
          <p:nvPr/>
        </p:nvSpPr>
        <p:spPr>
          <a:xfrm>
            <a:off x="13946188" y="6508353"/>
            <a:ext cx="3309144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135"/>
              </a:lnSpc>
              <a:buNone/>
            </a:pPr>
            <a:r>
              <a:rPr lang="en-US" sz="2250" dirty="0">
                <a:solidFill>
                  <a:srgbClr val="F5F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/ Morph</a:t>
            </a:r>
            <a:endParaRPr lang="en-US" sz="2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1500" spc="210" kern="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&amp; ADAPTATIONS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047750" y="1419225"/>
            <a:ext cx="17811750" cy="6963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255"/>
              </a:lnSpc>
              <a:buNone/>
            </a:pPr>
            <a:r>
              <a:rPr lang="en-US" sz="4800" spc="-72" kern="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Staying faithful to the paper, where we could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047750" y="4717653"/>
            <a:ext cx="7810500" cy="2586038"/>
          </a:xfrm>
          <a:prstGeom prst="roundRect">
            <a:avLst>
              <a:gd name="adj" fmla="val 5157"/>
            </a:avLst>
          </a:prstGeom>
          <a:solidFill>
            <a:srgbClr val="232532"/>
          </a:solidFill>
          <a:ln/>
        </p:spPr>
      </p:sp>
      <p:sp>
        <p:nvSpPr>
          <p:cNvPr id="5" name="Text 3"/>
          <p:cNvSpPr/>
          <p:nvPr/>
        </p:nvSpPr>
        <p:spPr>
          <a:xfrm>
            <a:off x="1504950" y="5174853"/>
            <a:ext cx="758571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800" spc="180" kern="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KEPT FROM THE PAPER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04950" y="5689203"/>
            <a:ext cx="7102983" cy="1195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65"/>
              </a:lnSpc>
              <a:buNone/>
            </a:pPr>
            <a:r>
              <a:rPr lang="en-US" sz="2025" dirty="0">
                <a:solidFill>
                  <a:srgbClr val="E9E9ED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528×528 + CLAHE preprocessing; frozen EfficientNet-B6 as a pure feature extractor (GAP → 2304-d); SVM (RBF) classifier; threshold optimization on a validation set.</a:t>
            </a:r>
            <a:endParaRPr lang="en-US" sz="2025" dirty="0"/>
          </a:p>
        </p:txBody>
      </p:sp>
      <p:sp>
        <p:nvSpPr>
          <p:cNvPr id="7" name="Shape 5"/>
          <p:cNvSpPr/>
          <p:nvPr/>
        </p:nvSpPr>
        <p:spPr>
          <a:xfrm>
            <a:off x="9429750" y="4331891"/>
            <a:ext cx="7810500" cy="3357563"/>
          </a:xfrm>
          <a:prstGeom prst="roundRect">
            <a:avLst>
              <a:gd name="adj" fmla="val 3972"/>
            </a:avLst>
          </a:prstGeom>
          <a:solidFill>
            <a:srgbClr val="232532"/>
          </a:solidFill>
          <a:ln/>
        </p:spPr>
      </p:sp>
      <p:sp>
        <p:nvSpPr>
          <p:cNvPr id="8" name="Text 6"/>
          <p:cNvSpPr/>
          <p:nvPr/>
        </p:nvSpPr>
        <p:spPr>
          <a:xfrm>
            <a:off x="9886950" y="4789091"/>
            <a:ext cx="758571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800" spc="180" kern="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ADAPTED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886950" y="5303441"/>
            <a:ext cx="7102983" cy="1966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65"/>
              </a:lnSpc>
              <a:buNone/>
            </a:pPr>
            <a:r>
              <a:rPr lang="en-US" sz="2025" b="1" dirty="0">
                <a:solidFill>
                  <a:srgbClr val="E9E9ED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faces: </a:t>
            </a:r>
            <a:pPr algn="l" indent="0" marL="0">
              <a:lnSpc>
                <a:spcPct val="132065"/>
              </a:lnSpc>
              <a:buNone/>
            </a:pPr>
            <a:r>
              <a:rPr lang="en-US" sz="2025" dirty="0">
                <a:solidFill>
                  <a:srgbClr val="E9E9ED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FFHQ instead of the paper's non-redistributable set. </a:t>
            </a:r>
            <a:pPr algn="l" indent="0" marL="0">
              <a:lnSpc>
                <a:spcPct val="132065"/>
              </a:lnSpc>
              <a:buNone/>
            </a:pPr>
            <a:r>
              <a:rPr lang="en-US" sz="2025" b="1" dirty="0">
                <a:solidFill>
                  <a:srgbClr val="E9E9ED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Morphs: </a:t>
            </a:r>
            <a:pPr algn="l" indent="0" marL="0">
              <a:lnSpc>
                <a:spcPct val="132065"/>
              </a:lnSpc>
              <a:buNone/>
            </a:pPr>
            <a:r>
              <a:rPr lang="en-US" sz="2025" dirty="0">
                <a:solidFill>
                  <a:srgbClr val="E9E9ED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own landmark morphing (Delaunay + affine warp + seamless clone) instead of the paper's FaceSwap tool, so the dataset regenerates entirely from code.</a:t>
            </a:r>
            <a:endParaRPr lang="en-US" sz="20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1500" spc="210" kern="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NOTEBOOK OUTPUT — BUILDING THE DATASET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047750" y="1419225"/>
            <a:ext cx="17811750" cy="6963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255"/>
              </a:lnSpc>
              <a:buNone/>
            </a:pPr>
            <a:r>
              <a:rPr lang="en-US" sz="4800" spc="-72" kern="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70,000 real faces, morphed two ways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047750" y="2229842"/>
            <a:ext cx="13735050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808"/>
              </a:lnSpc>
              <a:buNone/>
            </a:pPr>
            <a:r>
              <a:rPr lang="en-US" sz="2250" dirty="0">
                <a:solidFill>
                  <a:srgbClr val="E9E9ED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output: </a:t>
            </a:r>
            <a:pPr algn="l" indent="0" marL="0">
              <a:lnSpc>
                <a:spcPct val="129808"/>
              </a:lnSpc>
              <a:buNone/>
            </a:pPr>
            <a:r>
              <a:rPr lang="en-US" sz="2250" dirty="0">
                <a:solidFill>
                  <a:srgbClr val="D2CEFD">
                    <a:alpha val="8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FFHQ faces available: 70000 </a:t>
            </a:r>
            <a:pPr algn="l" indent="0" marL="0">
              <a:lnSpc>
                <a:spcPct val="129808"/>
              </a:lnSpc>
              <a:buNone/>
            </a:pPr>
            <a:r>
              <a:rPr lang="en-US" sz="2250" dirty="0">
                <a:solidFill>
                  <a:srgbClr val="E9E9ED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Each morph pairs two random FFHQ identities and blends them with our Part-1 landmark pipeline — plus a seamless-clone "splice" variant for extra diversity.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1047750" y="4757142"/>
            <a:ext cx="7547372" cy="3516908"/>
          </a:xfrm>
          <a:prstGeom prst="roundRect">
            <a:avLst>
              <a:gd name="adj" fmla="val 3792"/>
            </a:avLst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750" y="4757142"/>
            <a:ext cx="7547372" cy="351690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938022" y="5419725"/>
            <a:ext cx="8302228" cy="2191742"/>
          </a:xfrm>
          <a:prstGeom prst="roundRect">
            <a:avLst>
              <a:gd name="adj" fmla="val 6084"/>
            </a:avLst>
          </a:prstGeom>
          <a:solidFill>
            <a:srgbClr val="FFFFFF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8022" y="5419725"/>
            <a:ext cx="8302228" cy="219174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6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1500" spc="210" kern="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NOTEBOOK OUTPUT — PREPROCESSING &amp; SPLITS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047750" y="1419225"/>
            <a:ext cx="17811750" cy="6963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255"/>
              </a:lnSpc>
              <a:buNone/>
            </a:pPr>
            <a:r>
              <a:rPr lang="en-US" sz="4800" spc="-72" kern="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CLAHE sharpens contrast before the split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047750" y="2229842"/>
            <a:ext cx="13735050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808"/>
              </a:lnSpc>
              <a:buNone/>
            </a:pPr>
            <a:r>
              <a:rPr lang="en-US" sz="2250" dirty="0">
                <a:solidFill>
                  <a:srgbClr val="E9E9ED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output: </a:t>
            </a:r>
            <a:pPr algn="l" indent="0" marL="0">
              <a:lnSpc>
                <a:spcPct val="129808"/>
              </a:lnSpc>
              <a:buNone/>
            </a:pPr>
            <a:r>
              <a:rPr lang="en-US" sz="2250" dirty="0">
                <a:solidFill>
                  <a:srgbClr val="D2CEFD">
                    <a:alpha val="8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train: 1120 (real 636, morph 484) · val: 240 (real 137, morph 103) · test: 240 (real 127, morph 113) </a:t>
            </a:r>
            <a:pPr algn="l" indent="0" marL="0">
              <a:lnSpc>
                <a:spcPct val="129808"/>
              </a:lnSpc>
              <a:buNone/>
            </a:pPr>
            <a:r>
              <a:rPr lang="en-US" sz="2250" dirty="0">
                <a:solidFill>
                  <a:srgbClr val="E9E9ED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 70/15/15 split, stratified by class.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1047750" y="4866084"/>
            <a:ext cx="7282260" cy="3298825"/>
          </a:xfrm>
          <a:prstGeom prst="roundRect">
            <a:avLst>
              <a:gd name="adj" fmla="val 4042"/>
            </a:avLst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750" y="4866084"/>
            <a:ext cx="7282260" cy="329882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672910" y="4956374"/>
            <a:ext cx="8567341" cy="3118445"/>
          </a:xfrm>
          <a:prstGeom prst="roundRect">
            <a:avLst>
              <a:gd name="adj" fmla="val 4276"/>
            </a:avLst>
          </a:prstGeom>
          <a:solidFill>
            <a:srgbClr val="FFFFFF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2910" y="4956374"/>
            <a:ext cx="8567341" cy="311844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6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1500" spc="210" kern="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NOTEBOOK OUTPUT — TRAINING THE CLASSIFIER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047750" y="1419225"/>
            <a:ext cx="17811750" cy="6963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255"/>
              </a:lnSpc>
              <a:buNone/>
            </a:pPr>
            <a:r>
              <a:rPr lang="en-US" sz="4800" spc="-72" kern="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the classifier on deep features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047750" y="4388644"/>
            <a:ext cx="16678275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808"/>
              </a:lnSpc>
              <a:buNone/>
            </a:pPr>
            <a:r>
              <a:rPr lang="en-US" sz="2250" dirty="0">
                <a:solidFill>
                  <a:srgbClr val="E9E9ED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528×528 face becomes a 2304-d EfficientNet-B6 feature vector. An </a:t>
            </a:r>
            <a:pPr algn="l" indent="0" marL="0">
              <a:lnSpc>
                <a:spcPct val="129808"/>
              </a:lnSpc>
              <a:buNone/>
            </a:pPr>
            <a:r>
              <a:rPr lang="en-US" sz="2250" b="1" dirty="0">
                <a:solidFill>
                  <a:srgbClr val="E9E9ED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SVM with an RBF kernel </a:t>
            </a:r>
            <a:pPr algn="l" indent="0" marL="0">
              <a:lnSpc>
                <a:spcPct val="129808"/>
              </a:lnSpc>
              <a:buNone/>
            </a:pPr>
            <a:r>
              <a:rPr lang="en-US" sz="2250" dirty="0">
                <a:solidFill>
                  <a:srgbClr val="E9E9ED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trained on these vectors to separate real faces from morphs.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1047750" y="5493544"/>
            <a:ext cx="16678275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808"/>
              </a:lnSpc>
              <a:buNone/>
            </a:pPr>
            <a:r>
              <a:rPr lang="en-US" sz="2250" dirty="0">
                <a:solidFill>
                  <a:srgbClr val="E9E9ED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perfect train score is expected for an RBF-SVM on high-dimensional features — it isn't overfitting in a harmful sense here, since validation and test accuracy both stay strong.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1047750" y="6598444"/>
            <a:ext cx="16192500" cy="1034256"/>
          </a:xfrm>
          <a:prstGeom prst="roundRect">
            <a:avLst>
              <a:gd name="adj" fmla="val 12893"/>
            </a:avLst>
          </a:prstGeom>
          <a:solidFill>
            <a:srgbClr val="292B31"/>
          </a:solidFill>
          <a:ln/>
        </p:spPr>
      </p:sp>
      <p:sp>
        <p:nvSpPr>
          <p:cNvPr id="7" name="Text 5"/>
          <p:cNvSpPr/>
          <p:nvPr/>
        </p:nvSpPr>
        <p:spPr>
          <a:xfrm>
            <a:off x="1295400" y="6807994"/>
            <a:ext cx="16168116" cy="653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1406"/>
              </a:lnSpc>
              <a:buNone/>
            </a:pPr>
            <a:r>
              <a:rPr lang="en-US" sz="1425" dirty="0">
                <a:solidFill>
                  <a:srgbClr val="E9E9ED">
                    <a:alpha val="5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svm = SVC(kernel="rbf", gamma="scale") svm.fit(Xtr, ytr)</a:t>
            </a:r>
            <a:endParaRPr lang="en-US" sz="142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6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1500" spc="210" kern="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NOTEBOOK OUTPUT — HELD-OUT TEST RESULTS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047750" y="1419225"/>
            <a:ext cx="17811750" cy="6963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255"/>
              </a:lnSpc>
              <a:buNone/>
            </a:pPr>
            <a:r>
              <a:rPr lang="en-US" sz="4800" spc="-72" kern="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 of 113 morphs caught, 5 real faces misflagged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047750" y="4076105"/>
            <a:ext cx="9323388" cy="3869134"/>
          </a:xfrm>
          <a:prstGeom prst="roundRect">
            <a:avLst>
              <a:gd name="adj" fmla="val 3447"/>
            </a:avLst>
          </a:prstGeom>
          <a:solidFill>
            <a:srgbClr val="FFFF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750" y="4076105"/>
            <a:ext cx="9323388" cy="386913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714038" y="5024835"/>
            <a:ext cx="6721999" cy="1152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7174"/>
              </a:lnSpc>
              <a:buNone/>
            </a:pPr>
            <a:r>
              <a:rPr lang="en-US" sz="1950" dirty="0">
                <a:solidFill>
                  <a:srgbClr val="E9E9ED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240-image test set (127 real, 113 morph): </a:t>
            </a:r>
            <a:pPr algn="l" indent="0" marL="0">
              <a:lnSpc>
                <a:spcPct val="127174"/>
              </a:lnSpc>
              <a:buNone/>
            </a:pPr>
            <a:r>
              <a:rPr lang="en-US" sz="1950" b="1" dirty="0">
                <a:solidFill>
                  <a:srgbClr val="E9E9ED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91.7% accuracy </a:t>
            </a:r>
            <a:pPr algn="l" indent="0" marL="0">
              <a:lnSpc>
                <a:spcPct val="127174"/>
              </a:lnSpc>
              <a:buNone/>
            </a:pPr>
            <a:r>
              <a:rPr lang="en-US" sz="1950" dirty="0">
                <a:solidFill>
                  <a:srgbClr val="E9E9ED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l" indent="0" marL="0">
              <a:lnSpc>
                <a:spcPct val="127174"/>
              </a:lnSpc>
              <a:buNone/>
            </a:pPr>
            <a:r>
              <a:rPr lang="en-US" sz="1950" b="1" dirty="0">
                <a:solidFill>
                  <a:srgbClr val="E9E9ED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0.951 precision</a:t>
            </a:r>
            <a:pPr algn="l" indent="0" marL="0">
              <a:lnSpc>
                <a:spcPct val="127174"/>
              </a:lnSpc>
              <a:buNone/>
            </a:pPr>
            <a:r>
              <a:rPr lang="en-US" sz="1950" dirty="0">
                <a:solidFill>
                  <a:srgbClr val="E9E9ED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l" indent="0" marL="0">
              <a:lnSpc>
                <a:spcPct val="127174"/>
              </a:lnSpc>
              <a:buNone/>
            </a:pPr>
            <a:r>
              <a:rPr lang="en-US" sz="1950" b="1" dirty="0">
                <a:solidFill>
                  <a:srgbClr val="E9E9ED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0.867 recall</a:t>
            </a:r>
            <a:pPr algn="l" indent="0" marL="0">
              <a:lnSpc>
                <a:spcPct val="127174"/>
              </a:lnSpc>
              <a:buNone/>
            </a:pPr>
            <a:r>
              <a:rPr lang="en-US" sz="1950" dirty="0">
                <a:solidFill>
                  <a:srgbClr val="E9E9ED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l" indent="0" marL="0">
              <a:lnSpc>
                <a:spcPct val="127174"/>
              </a:lnSpc>
              <a:buNone/>
            </a:pPr>
            <a:r>
              <a:rPr lang="en-US" sz="1950" b="1" dirty="0">
                <a:solidFill>
                  <a:srgbClr val="E9E9ED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0.907 F1</a:t>
            </a:r>
            <a:pPr algn="l" indent="0" marL="0">
              <a:lnSpc>
                <a:spcPct val="127174"/>
              </a:lnSpc>
              <a:buNone/>
            </a:pPr>
            <a:r>
              <a:rPr lang="en-US" sz="1950" dirty="0">
                <a:solidFill>
                  <a:srgbClr val="E9E9ED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l" indent="0" marL="0">
              <a:lnSpc>
                <a:spcPct val="127174"/>
              </a:lnSpc>
              <a:buNone/>
            </a:pPr>
            <a:r>
              <a:rPr lang="en-US" sz="1950" b="1" dirty="0">
                <a:solidFill>
                  <a:srgbClr val="E9E9ED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0.967 AUC</a:t>
            </a:r>
            <a:pPr algn="l" indent="0" marL="0">
              <a:lnSpc>
                <a:spcPct val="127174"/>
              </a:lnSpc>
              <a:buNone/>
            </a:pPr>
            <a:r>
              <a:rPr lang="en-US" sz="1950" dirty="0">
                <a:solidFill>
                  <a:srgbClr val="E9E9ED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10714038" y="6310710"/>
            <a:ext cx="6721999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800" dirty="0">
                <a:solidFill>
                  <a:srgbClr val="E9E9ED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TP=98 TN=122 FP=5 FN=15 — most errors are missed morphs (false negatives), not false alarms on real faces.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6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1500" spc="210" kern="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NOTEBOOK OUTPUT — SIX IMPROVEMENT EXPERIMENTS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047750" y="1419225"/>
            <a:ext cx="17811750" cy="6963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255"/>
              </a:lnSpc>
              <a:buNone/>
            </a:pPr>
            <a:r>
              <a:rPr lang="en-US" sz="4800" spc="-72" kern="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Trying to beat the SVM baseline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047750" y="2666405"/>
            <a:ext cx="16192500" cy="397272"/>
          </a:xfrm>
          <a:prstGeom prst="rect">
            <a:avLst/>
          </a:prstGeom>
          <a:gradFill rotWithShape="1">
            <a:gsLst>
              <a:gs pos="0">
                <a:srgbClr val="E6E6EC">
                  <a:alpha val="0"/>
                </a:srgbClr>
              </a:gs>
              <a:gs pos="50000">
                <a:srgbClr val="E6E6EC">
                  <a:alpha val="16000"/>
                </a:srgbClr>
              </a:gs>
              <a:gs pos="100000">
                <a:srgbClr val="E6E6EC">
                  <a:alpha val="16000"/>
                </a:srgbClr>
              </a:gs>
              <a:gs pos="100000">
                <a:srgbClr val="E6E6EC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5" name="Text 3"/>
          <p:cNvSpPr/>
          <p:nvPr/>
        </p:nvSpPr>
        <p:spPr>
          <a:xfrm>
            <a:off x="1162050" y="2780705"/>
            <a:ext cx="7726079" cy="1940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2083"/>
              </a:lnSpc>
              <a:buNone/>
            </a:pPr>
            <a:r>
              <a:rPr lang="en-US" sz="825" b="1" spc="66" kern="0" dirty="0">
                <a:solidFill>
                  <a:srgbClr val="E9E9ED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8885039" y="2780705"/>
            <a:ext cx="1541463" cy="1940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2083"/>
              </a:lnSpc>
              <a:buNone/>
            </a:pPr>
            <a:r>
              <a:rPr lang="en-US" sz="825" b="1" spc="66" kern="0" dirty="0">
                <a:solidFill>
                  <a:srgbClr val="E9E9ED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10578902" y="2780705"/>
            <a:ext cx="1541463" cy="1940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2083"/>
              </a:lnSpc>
              <a:buNone/>
            </a:pPr>
            <a:r>
              <a:rPr lang="en-US" sz="825" b="1" spc="66" kern="0" dirty="0">
                <a:solidFill>
                  <a:srgbClr val="E9E9ED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12272765" y="2780705"/>
            <a:ext cx="1541463" cy="1940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2083"/>
              </a:lnSpc>
              <a:buNone/>
            </a:pPr>
            <a:r>
              <a:rPr lang="en-US" sz="825" b="1" spc="66" kern="0" dirty="0">
                <a:solidFill>
                  <a:srgbClr val="E9E9ED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13966627" y="2780705"/>
            <a:ext cx="1541463" cy="1940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2083"/>
              </a:lnSpc>
              <a:buNone/>
            </a:pPr>
            <a:r>
              <a:rPr lang="en-US" sz="825" b="1" spc="66" kern="0" dirty="0">
                <a:solidFill>
                  <a:srgbClr val="E9E9ED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15660489" y="2780705"/>
            <a:ext cx="1541661" cy="1940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2083"/>
              </a:lnSpc>
              <a:buNone/>
            </a:pPr>
            <a:r>
              <a:rPr lang="en-US" sz="825" b="1" spc="66" kern="0" dirty="0">
                <a:solidFill>
                  <a:srgbClr val="E9E9ED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</a:t>
            </a:r>
            <a:endParaRPr lang="en-US" sz="825" dirty="0"/>
          </a:p>
        </p:txBody>
      </p:sp>
      <p:sp>
        <p:nvSpPr>
          <p:cNvPr id="11" name="Shape 9"/>
          <p:cNvSpPr/>
          <p:nvPr/>
        </p:nvSpPr>
        <p:spPr>
          <a:xfrm>
            <a:off x="1047750" y="3063677"/>
            <a:ext cx="16192500" cy="618927"/>
          </a:xfrm>
          <a:prstGeom prst="rect">
            <a:avLst/>
          </a:prstGeom>
          <a:gradFill rotWithShape="1">
            <a:gsLst>
              <a:gs pos="0">
                <a:srgbClr val="E6E6F2">
                  <a:alpha val="0"/>
                </a:srgbClr>
              </a:gs>
              <a:gs pos="50000">
                <a:srgbClr val="E6E6F2">
                  <a:alpha val="8000"/>
                </a:srgbClr>
              </a:gs>
              <a:gs pos="100000">
                <a:srgbClr val="E6E6F2">
                  <a:alpha val="8000"/>
                </a:srgbClr>
              </a:gs>
              <a:gs pos="100000">
                <a:srgbClr val="E6E6F2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12" name="Text 10"/>
          <p:cNvSpPr/>
          <p:nvPr/>
        </p:nvSpPr>
        <p:spPr>
          <a:xfrm>
            <a:off x="1162050" y="3197027"/>
            <a:ext cx="7726079" cy="3776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7321"/>
              </a:lnSpc>
              <a:buNone/>
            </a:pPr>
            <a:r>
              <a:rPr lang="en-US" sz="1725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· SVM (baseline)</a:t>
            </a:r>
            <a:endParaRPr lang="en-US" sz="1725" dirty="0"/>
          </a:p>
        </p:txBody>
      </p:sp>
      <p:sp>
        <p:nvSpPr>
          <p:cNvPr id="13" name="Text 11"/>
          <p:cNvSpPr/>
          <p:nvPr/>
        </p:nvSpPr>
        <p:spPr>
          <a:xfrm>
            <a:off x="8885039" y="3197027"/>
            <a:ext cx="1541463" cy="3776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7321"/>
              </a:lnSpc>
              <a:buNone/>
            </a:pPr>
            <a:r>
              <a:rPr lang="en-US" sz="17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0.917</a:t>
            </a:r>
            <a:endParaRPr lang="en-US" sz="1725" dirty="0"/>
          </a:p>
        </p:txBody>
      </p:sp>
      <p:sp>
        <p:nvSpPr>
          <p:cNvPr id="14" name="Text 12"/>
          <p:cNvSpPr/>
          <p:nvPr/>
        </p:nvSpPr>
        <p:spPr>
          <a:xfrm>
            <a:off x="10578902" y="3197027"/>
            <a:ext cx="1541463" cy="3776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7321"/>
              </a:lnSpc>
              <a:buNone/>
            </a:pPr>
            <a:r>
              <a:rPr lang="en-US" sz="17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0.943</a:t>
            </a:r>
            <a:endParaRPr lang="en-US" sz="1725" dirty="0"/>
          </a:p>
        </p:txBody>
      </p:sp>
      <p:sp>
        <p:nvSpPr>
          <p:cNvPr id="15" name="Text 13"/>
          <p:cNvSpPr/>
          <p:nvPr/>
        </p:nvSpPr>
        <p:spPr>
          <a:xfrm>
            <a:off x="12272765" y="3197027"/>
            <a:ext cx="1541463" cy="3776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7321"/>
              </a:lnSpc>
              <a:buNone/>
            </a:pPr>
            <a:r>
              <a:rPr lang="en-US" sz="17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0.876</a:t>
            </a:r>
            <a:endParaRPr lang="en-US" sz="1725" dirty="0"/>
          </a:p>
        </p:txBody>
      </p:sp>
      <p:sp>
        <p:nvSpPr>
          <p:cNvPr id="16" name="Text 14"/>
          <p:cNvSpPr/>
          <p:nvPr/>
        </p:nvSpPr>
        <p:spPr>
          <a:xfrm>
            <a:off x="13966627" y="3197027"/>
            <a:ext cx="1541463" cy="3776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7321"/>
              </a:lnSpc>
              <a:buNone/>
            </a:pPr>
            <a:r>
              <a:rPr lang="en-US" sz="17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0.908</a:t>
            </a:r>
            <a:endParaRPr lang="en-US" sz="1725" dirty="0"/>
          </a:p>
        </p:txBody>
      </p:sp>
      <p:sp>
        <p:nvSpPr>
          <p:cNvPr id="17" name="Text 15"/>
          <p:cNvSpPr/>
          <p:nvPr/>
        </p:nvSpPr>
        <p:spPr>
          <a:xfrm>
            <a:off x="15660489" y="3197027"/>
            <a:ext cx="1541661" cy="3776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7321"/>
              </a:lnSpc>
              <a:buNone/>
            </a:pPr>
            <a:r>
              <a:rPr lang="en-US" sz="17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0.967</a:t>
            </a:r>
            <a:endParaRPr lang="en-US" sz="1725" dirty="0"/>
          </a:p>
        </p:txBody>
      </p:sp>
      <p:sp>
        <p:nvSpPr>
          <p:cNvPr id="18" name="Shape 16"/>
          <p:cNvSpPr/>
          <p:nvPr/>
        </p:nvSpPr>
        <p:spPr>
          <a:xfrm>
            <a:off x="1047750" y="3682603"/>
            <a:ext cx="16192500" cy="618927"/>
          </a:xfrm>
          <a:prstGeom prst="rect">
            <a:avLst/>
          </a:prstGeom>
          <a:gradFill rotWithShape="1">
            <a:gsLst>
              <a:gs pos="0">
                <a:srgbClr val="E6E6F2">
                  <a:alpha val="0"/>
                </a:srgbClr>
              </a:gs>
              <a:gs pos="50000">
                <a:srgbClr val="E6E6F2">
                  <a:alpha val="8000"/>
                </a:srgbClr>
              </a:gs>
              <a:gs pos="100000">
                <a:srgbClr val="E6E6F2">
                  <a:alpha val="8000"/>
                </a:srgbClr>
              </a:gs>
              <a:gs pos="100000">
                <a:srgbClr val="E6E6F2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19" name="Text 17"/>
          <p:cNvSpPr/>
          <p:nvPr/>
        </p:nvSpPr>
        <p:spPr>
          <a:xfrm>
            <a:off x="1162050" y="3815953"/>
            <a:ext cx="7726079" cy="3776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7321"/>
              </a:lnSpc>
              <a:buNone/>
            </a:pPr>
            <a:r>
              <a:rPr lang="en-US" sz="17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MLP (softmax + cross-entropy)</a:t>
            </a:r>
            <a:endParaRPr lang="en-US" sz="1725" dirty="0"/>
          </a:p>
        </p:txBody>
      </p:sp>
      <p:sp>
        <p:nvSpPr>
          <p:cNvPr id="20" name="Text 18"/>
          <p:cNvSpPr/>
          <p:nvPr/>
        </p:nvSpPr>
        <p:spPr>
          <a:xfrm>
            <a:off x="8885039" y="3815953"/>
            <a:ext cx="1541463" cy="3776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7321"/>
              </a:lnSpc>
              <a:buNone/>
            </a:pPr>
            <a:r>
              <a:rPr lang="en-US" sz="17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0.904</a:t>
            </a:r>
            <a:endParaRPr lang="en-US" sz="1725" dirty="0"/>
          </a:p>
        </p:txBody>
      </p:sp>
      <p:sp>
        <p:nvSpPr>
          <p:cNvPr id="21" name="Text 19"/>
          <p:cNvSpPr/>
          <p:nvPr/>
        </p:nvSpPr>
        <p:spPr>
          <a:xfrm>
            <a:off x="10578902" y="3815953"/>
            <a:ext cx="1541463" cy="3776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7321"/>
              </a:lnSpc>
              <a:buNone/>
            </a:pPr>
            <a:r>
              <a:rPr lang="en-US" sz="17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0.925</a:t>
            </a:r>
            <a:endParaRPr lang="en-US" sz="1725" dirty="0"/>
          </a:p>
        </p:txBody>
      </p:sp>
      <p:sp>
        <p:nvSpPr>
          <p:cNvPr id="22" name="Text 20"/>
          <p:cNvSpPr/>
          <p:nvPr/>
        </p:nvSpPr>
        <p:spPr>
          <a:xfrm>
            <a:off x="12272765" y="3815953"/>
            <a:ext cx="1541463" cy="3776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7321"/>
              </a:lnSpc>
              <a:buNone/>
            </a:pPr>
            <a:r>
              <a:rPr lang="en-US" sz="17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0.867</a:t>
            </a:r>
            <a:endParaRPr lang="en-US" sz="1725" dirty="0"/>
          </a:p>
        </p:txBody>
      </p:sp>
      <p:sp>
        <p:nvSpPr>
          <p:cNvPr id="23" name="Text 21"/>
          <p:cNvSpPr/>
          <p:nvPr/>
        </p:nvSpPr>
        <p:spPr>
          <a:xfrm>
            <a:off x="13966627" y="3815953"/>
            <a:ext cx="1541463" cy="3776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7321"/>
              </a:lnSpc>
              <a:buNone/>
            </a:pPr>
            <a:r>
              <a:rPr lang="en-US" sz="17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0.895</a:t>
            </a:r>
            <a:endParaRPr lang="en-US" sz="1725" dirty="0"/>
          </a:p>
        </p:txBody>
      </p:sp>
      <p:sp>
        <p:nvSpPr>
          <p:cNvPr id="24" name="Text 22"/>
          <p:cNvSpPr/>
          <p:nvPr/>
        </p:nvSpPr>
        <p:spPr>
          <a:xfrm>
            <a:off x="15660489" y="3815953"/>
            <a:ext cx="1541661" cy="3776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7321"/>
              </a:lnSpc>
              <a:buNone/>
            </a:pPr>
            <a:r>
              <a:rPr lang="en-US" sz="17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0.968</a:t>
            </a:r>
            <a:endParaRPr lang="en-US" sz="1725" dirty="0"/>
          </a:p>
        </p:txBody>
      </p:sp>
      <p:sp>
        <p:nvSpPr>
          <p:cNvPr id="25" name="Shape 23"/>
          <p:cNvSpPr/>
          <p:nvPr/>
        </p:nvSpPr>
        <p:spPr>
          <a:xfrm>
            <a:off x="1047750" y="4301530"/>
            <a:ext cx="16192500" cy="618927"/>
          </a:xfrm>
          <a:prstGeom prst="rect">
            <a:avLst/>
          </a:prstGeom>
          <a:gradFill rotWithShape="1">
            <a:gsLst>
              <a:gs pos="0">
                <a:srgbClr val="E6E6F2">
                  <a:alpha val="0"/>
                </a:srgbClr>
              </a:gs>
              <a:gs pos="50000">
                <a:srgbClr val="E6E6F2">
                  <a:alpha val="8000"/>
                </a:srgbClr>
              </a:gs>
              <a:gs pos="100000">
                <a:srgbClr val="E6E6F2">
                  <a:alpha val="8000"/>
                </a:srgbClr>
              </a:gs>
              <a:gs pos="100000">
                <a:srgbClr val="E6E6F2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26" name="Text 24"/>
          <p:cNvSpPr/>
          <p:nvPr/>
        </p:nvSpPr>
        <p:spPr>
          <a:xfrm>
            <a:off x="1162050" y="4434880"/>
            <a:ext cx="7726079" cy="3776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7321"/>
              </a:lnSpc>
              <a:buNone/>
            </a:pPr>
            <a:r>
              <a:rPr lang="en-US" sz="17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+ dropout 0.5</a:t>
            </a:r>
            <a:endParaRPr lang="en-US" sz="1725" dirty="0"/>
          </a:p>
        </p:txBody>
      </p:sp>
      <p:sp>
        <p:nvSpPr>
          <p:cNvPr id="27" name="Text 25"/>
          <p:cNvSpPr/>
          <p:nvPr/>
        </p:nvSpPr>
        <p:spPr>
          <a:xfrm>
            <a:off x="8885039" y="4434880"/>
            <a:ext cx="1541463" cy="3776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7321"/>
              </a:lnSpc>
              <a:buNone/>
            </a:pPr>
            <a:r>
              <a:rPr lang="en-US" sz="17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0.904</a:t>
            </a:r>
            <a:endParaRPr lang="en-US" sz="1725" dirty="0"/>
          </a:p>
        </p:txBody>
      </p:sp>
      <p:sp>
        <p:nvSpPr>
          <p:cNvPr id="28" name="Text 26"/>
          <p:cNvSpPr/>
          <p:nvPr/>
        </p:nvSpPr>
        <p:spPr>
          <a:xfrm>
            <a:off x="10578902" y="4434880"/>
            <a:ext cx="1541463" cy="3776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7321"/>
              </a:lnSpc>
              <a:buNone/>
            </a:pPr>
            <a:r>
              <a:rPr lang="en-US" sz="17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0.950</a:t>
            </a:r>
            <a:endParaRPr lang="en-US" sz="1725" dirty="0"/>
          </a:p>
        </p:txBody>
      </p:sp>
      <p:sp>
        <p:nvSpPr>
          <p:cNvPr id="29" name="Text 27"/>
          <p:cNvSpPr/>
          <p:nvPr/>
        </p:nvSpPr>
        <p:spPr>
          <a:xfrm>
            <a:off x="12272765" y="4434880"/>
            <a:ext cx="1541463" cy="3776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7321"/>
              </a:lnSpc>
              <a:buNone/>
            </a:pPr>
            <a:r>
              <a:rPr lang="en-US" sz="17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0.841</a:t>
            </a:r>
            <a:endParaRPr lang="en-US" sz="1725" dirty="0"/>
          </a:p>
        </p:txBody>
      </p:sp>
      <p:sp>
        <p:nvSpPr>
          <p:cNvPr id="30" name="Text 28"/>
          <p:cNvSpPr/>
          <p:nvPr/>
        </p:nvSpPr>
        <p:spPr>
          <a:xfrm>
            <a:off x="13966627" y="4434880"/>
            <a:ext cx="1541463" cy="3776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7321"/>
              </a:lnSpc>
              <a:buNone/>
            </a:pPr>
            <a:r>
              <a:rPr lang="en-US" sz="17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0.892</a:t>
            </a:r>
            <a:endParaRPr lang="en-US" sz="1725" dirty="0"/>
          </a:p>
        </p:txBody>
      </p:sp>
      <p:sp>
        <p:nvSpPr>
          <p:cNvPr id="31" name="Text 29"/>
          <p:cNvSpPr/>
          <p:nvPr/>
        </p:nvSpPr>
        <p:spPr>
          <a:xfrm>
            <a:off x="15660489" y="4434880"/>
            <a:ext cx="1541661" cy="3776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7321"/>
              </a:lnSpc>
              <a:buNone/>
            </a:pPr>
            <a:r>
              <a:rPr lang="en-US" sz="17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0.965</a:t>
            </a:r>
            <a:endParaRPr lang="en-US" sz="1725" dirty="0"/>
          </a:p>
        </p:txBody>
      </p:sp>
      <p:sp>
        <p:nvSpPr>
          <p:cNvPr id="32" name="Shape 30"/>
          <p:cNvSpPr/>
          <p:nvPr/>
        </p:nvSpPr>
        <p:spPr>
          <a:xfrm>
            <a:off x="1047750" y="4920457"/>
            <a:ext cx="16192500" cy="618927"/>
          </a:xfrm>
          <a:prstGeom prst="rect">
            <a:avLst/>
          </a:prstGeom>
          <a:gradFill rotWithShape="1">
            <a:gsLst>
              <a:gs pos="0">
                <a:srgbClr val="E6E6F2">
                  <a:alpha val="0"/>
                </a:srgbClr>
              </a:gs>
              <a:gs pos="50000">
                <a:srgbClr val="E6E6F2">
                  <a:alpha val="8000"/>
                </a:srgbClr>
              </a:gs>
              <a:gs pos="100000">
                <a:srgbClr val="E6E6F2">
                  <a:alpha val="8000"/>
                </a:srgbClr>
              </a:gs>
              <a:gs pos="100000">
                <a:srgbClr val="E6E6F2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33" name="Text 31"/>
          <p:cNvSpPr/>
          <p:nvPr/>
        </p:nvSpPr>
        <p:spPr>
          <a:xfrm>
            <a:off x="1162050" y="5053807"/>
            <a:ext cx="7726079" cy="3776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7321"/>
              </a:lnSpc>
              <a:buNone/>
            </a:pPr>
            <a:r>
              <a:rPr lang="en-US" sz="17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+ cosine LR decay</a:t>
            </a:r>
            <a:endParaRPr lang="en-US" sz="1725" dirty="0"/>
          </a:p>
        </p:txBody>
      </p:sp>
      <p:sp>
        <p:nvSpPr>
          <p:cNvPr id="34" name="Text 32"/>
          <p:cNvSpPr/>
          <p:nvPr/>
        </p:nvSpPr>
        <p:spPr>
          <a:xfrm>
            <a:off x="8885039" y="5053807"/>
            <a:ext cx="1541463" cy="3776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7321"/>
              </a:lnSpc>
              <a:buNone/>
            </a:pPr>
            <a:r>
              <a:rPr lang="en-US" sz="17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0.904</a:t>
            </a:r>
            <a:endParaRPr lang="en-US" sz="1725" dirty="0"/>
          </a:p>
        </p:txBody>
      </p:sp>
      <p:sp>
        <p:nvSpPr>
          <p:cNvPr id="35" name="Text 33"/>
          <p:cNvSpPr/>
          <p:nvPr/>
        </p:nvSpPr>
        <p:spPr>
          <a:xfrm>
            <a:off x="10578902" y="5053807"/>
            <a:ext cx="1541463" cy="3776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7321"/>
              </a:lnSpc>
              <a:buNone/>
            </a:pPr>
            <a:r>
              <a:rPr lang="en-US" sz="17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0.917</a:t>
            </a:r>
            <a:endParaRPr lang="en-US" sz="1725" dirty="0"/>
          </a:p>
        </p:txBody>
      </p:sp>
      <p:sp>
        <p:nvSpPr>
          <p:cNvPr id="36" name="Text 34"/>
          <p:cNvSpPr/>
          <p:nvPr/>
        </p:nvSpPr>
        <p:spPr>
          <a:xfrm>
            <a:off x="12272765" y="5053807"/>
            <a:ext cx="1541463" cy="3776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7321"/>
              </a:lnSpc>
              <a:buNone/>
            </a:pPr>
            <a:r>
              <a:rPr lang="en-US" sz="17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0.876</a:t>
            </a:r>
            <a:endParaRPr lang="en-US" sz="1725" dirty="0"/>
          </a:p>
        </p:txBody>
      </p:sp>
      <p:sp>
        <p:nvSpPr>
          <p:cNvPr id="37" name="Text 35"/>
          <p:cNvSpPr/>
          <p:nvPr/>
        </p:nvSpPr>
        <p:spPr>
          <a:xfrm>
            <a:off x="13966627" y="5053807"/>
            <a:ext cx="1541463" cy="3776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7321"/>
              </a:lnSpc>
              <a:buNone/>
            </a:pPr>
            <a:r>
              <a:rPr lang="en-US" sz="17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0.896</a:t>
            </a:r>
            <a:endParaRPr lang="en-US" sz="1725" dirty="0"/>
          </a:p>
        </p:txBody>
      </p:sp>
      <p:sp>
        <p:nvSpPr>
          <p:cNvPr id="38" name="Text 36"/>
          <p:cNvSpPr/>
          <p:nvPr/>
        </p:nvSpPr>
        <p:spPr>
          <a:xfrm>
            <a:off x="15660489" y="5053807"/>
            <a:ext cx="1541661" cy="3776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7321"/>
              </a:lnSpc>
              <a:buNone/>
            </a:pPr>
            <a:r>
              <a:rPr lang="en-US" sz="17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0.973</a:t>
            </a:r>
            <a:endParaRPr lang="en-US" sz="1725" dirty="0"/>
          </a:p>
        </p:txBody>
      </p:sp>
      <p:sp>
        <p:nvSpPr>
          <p:cNvPr id="39" name="Shape 37"/>
          <p:cNvSpPr/>
          <p:nvPr/>
        </p:nvSpPr>
        <p:spPr>
          <a:xfrm>
            <a:off x="1047750" y="5539383"/>
            <a:ext cx="16192500" cy="618927"/>
          </a:xfrm>
          <a:prstGeom prst="rect">
            <a:avLst/>
          </a:prstGeom>
          <a:gradFill rotWithShape="1">
            <a:gsLst>
              <a:gs pos="0">
                <a:srgbClr val="E6E6F2">
                  <a:alpha val="0"/>
                </a:srgbClr>
              </a:gs>
              <a:gs pos="50000">
                <a:srgbClr val="E6E6F2">
                  <a:alpha val="8000"/>
                </a:srgbClr>
              </a:gs>
              <a:gs pos="100000">
                <a:srgbClr val="E6E6F2">
                  <a:alpha val="8000"/>
                </a:srgbClr>
              </a:gs>
              <a:gs pos="100000">
                <a:srgbClr val="E6E6F2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40" name="Text 38"/>
          <p:cNvSpPr/>
          <p:nvPr/>
        </p:nvSpPr>
        <p:spPr>
          <a:xfrm>
            <a:off x="1162050" y="5672733"/>
            <a:ext cx="7726079" cy="3776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7321"/>
              </a:lnSpc>
              <a:buNone/>
            </a:pPr>
            <a:r>
              <a:rPr lang="en-US" sz="17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+ Swish activation</a:t>
            </a:r>
            <a:endParaRPr lang="en-US" sz="1725" dirty="0"/>
          </a:p>
        </p:txBody>
      </p:sp>
      <p:sp>
        <p:nvSpPr>
          <p:cNvPr id="41" name="Text 39"/>
          <p:cNvSpPr/>
          <p:nvPr/>
        </p:nvSpPr>
        <p:spPr>
          <a:xfrm>
            <a:off x="8885039" y="5672733"/>
            <a:ext cx="1541463" cy="3776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7321"/>
              </a:lnSpc>
              <a:buNone/>
            </a:pPr>
            <a:r>
              <a:rPr lang="en-US" sz="17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0.912</a:t>
            </a:r>
            <a:endParaRPr lang="en-US" sz="1725" dirty="0"/>
          </a:p>
        </p:txBody>
      </p:sp>
      <p:sp>
        <p:nvSpPr>
          <p:cNvPr id="42" name="Text 40"/>
          <p:cNvSpPr/>
          <p:nvPr/>
        </p:nvSpPr>
        <p:spPr>
          <a:xfrm>
            <a:off x="10578902" y="5672733"/>
            <a:ext cx="1541463" cy="3776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7321"/>
              </a:lnSpc>
              <a:buNone/>
            </a:pPr>
            <a:r>
              <a:rPr lang="en-US" sz="17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0.934</a:t>
            </a:r>
            <a:endParaRPr lang="en-US" sz="1725" dirty="0"/>
          </a:p>
        </p:txBody>
      </p:sp>
      <p:sp>
        <p:nvSpPr>
          <p:cNvPr id="43" name="Text 41"/>
          <p:cNvSpPr/>
          <p:nvPr/>
        </p:nvSpPr>
        <p:spPr>
          <a:xfrm>
            <a:off x="12272765" y="5672733"/>
            <a:ext cx="1541463" cy="3776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7321"/>
              </a:lnSpc>
              <a:buNone/>
            </a:pPr>
            <a:r>
              <a:rPr lang="en-US" sz="17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0.876</a:t>
            </a:r>
            <a:endParaRPr lang="en-US" sz="1725" dirty="0"/>
          </a:p>
        </p:txBody>
      </p:sp>
      <p:sp>
        <p:nvSpPr>
          <p:cNvPr id="44" name="Text 42"/>
          <p:cNvSpPr/>
          <p:nvPr/>
        </p:nvSpPr>
        <p:spPr>
          <a:xfrm>
            <a:off x="13966627" y="5672733"/>
            <a:ext cx="1541463" cy="3776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7321"/>
              </a:lnSpc>
              <a:buNone/>
            </a:pPr>
            <a:r>
              <a:rPr lang="en-US" sz="17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0.904</a:t>
            </a:r>
            <a:endParaRPr lang="en-US" sz="1725" dirty="0"/>
          </a:p>
        </p:txBody>
      </p:sp>
      <p:sp>
        <p:nvSpPr>
          <p:cNvPr id="45" name="Text 43"/>
          <p:cNvSpPr/>
          <p:nvPr/>
        </p:nvSpPr>
        <p:spPr>
          <a:xfrm>
            <a:off x="15660489" y="5672733"/>
            <a:ext cx="1541661" cy="3776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7321"/>
              </a:lnSpc>
              <a:buNone/>
            </a:pPr>
            <a:r>
              <a:rPr lang="en-US" sz="17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0.972</a:t>
            </a:r>
            <a:endParaRPr lang="en-US" sz="1725" dirty="0"/>
          </a:p>
        </p:txBody>
      </p:sp>
      <p:sp>
        <p:nvSpPr>
          <p:cNvPr id="46" name="Shape 44"/>
          <p:cNvSpPr/>
          <p:nvPr/>
        </p:nvSpPr>
        <p:spPr>
          <a:xfrm>
            <a:off x="1047750" y="6158310"/>
            <a:ext cx="16192500" cy="618927"/>
          </a:xfrm>
          <a:prstGeom prst="rect">
            <a:avLst/>
          </a:prstGeom>
          <a:gradFill rotWithShape="1">
            <a:gsLst>
              <a:gs pos="0">
                <a:srgbClr val="E6E6F2">
                  <a:alpha val="0"/>
                </a:srgbClr>
              </a:gs>
              <a:gs pos="50000">
                <a:srgbClr val="E6E6F2">
                  <a:alpha val="8000"/>
                </a:srgbClr>
              </a:gs>
              <a:gs pos="100000">
                <a:srgbClr val="E6E6F2">
                  <a:alpha val="8000"/>
                </a:srgbClr>
              </a:gs>
              <a:gs pos="100000">
                <a:srgbClr val="E6E6F2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47" name="Text 45"/>
          <p:cNvSpPr/>
          <p:nvPr/>
        </p:nvSpPr>
        <p:spPr>
          <a:xfrm>
            <a:off x="1162050" y="6291660"/>
            <a:ext cx="7726079" cy="3776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7321"/>
              </a:lnSpc>
              <a:buNone/>
            </a:pPr>
            <a:r>
              <a:rPr lang="en-US" sz="17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· + class weights (2.5×)</a:t>
            </a:r>
            <a:endParaRPr lang="en-US" sz="1725" dirty="0"/>
          </a:p>
        </p:txBody>
      </p:sp>
      <p:sp>
        <p:nvSpPr>
          <p:cNvPr id="48" name="Text 46"/>
          <p:cNvSpPr/>
          <p:nvPr/>
        </p:nvSpPr>
        <p:spPr>
          <a:xfrm>
            <a:off x="8885039" y="6291660"/>
            <a:ext cx="1541463" cy="3776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7321"/>
              </a:lnSpc>
              <a:buNone/>
            </a:pPr>
            <a:r>
              <a:rPr lang="en-US" sz="17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0.912</a:t>
            </a:r>
            <a:endParaRPr lang="en-US" sz="1725" dirty="0"/>
          </a:p>
        </p:txBody>
      </p:sp>
      <p:sp>
        <p:nvSpPr>
          <p:cNvPr id="49" name="Text 47"/>
          <p:cNvSpPr/>
          <p:nvPr/>
        </p:nvSpPr>
        <p:spPr>
          <a:xfrm>
            <a:off x="10578902" y="6291660"/>
            <a:ext cx="1541463" cy="3776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7321"/>
              </a:lnSpc>
              <a:buNone/>
            </a:pPr>
            <a:r>
              <a:rPr lang="en-US" sz="17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0.911</a:t>
            </a:r>
            <a:endParaRPr lang="en-US" sz="1725" dirty="0"/>
          </a:p>
        </p:txBody>
      </p:sp>
      <p:sp>
        <p:nvSpPr>
          <p:cNvPr id="50" name="Text 48"/>
          <p:cNvSpPr/>
          <p:nvPr/>
        </p:nvSpPr>
        <p:spPr>
          <a:xfrm>
            <a:off x="12272765" y="6291660"/>
            <a:ext cx="1541463" cy="3776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7321"/>
              </a:lnSpc>
              <a:buNone/>
            </a:pPr>
            <a:r>
              <a:rPr lang="en-US" sz="17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0.903</a:t>
            </a:r>
            <a:endParaRPr lang="en-US" sz="1725" dirty="0"/>
          </a:p>
        </p:txBody>
      </p:sp>
      <p:sp>
        <p:nvSpPr>
          <p:cNvPr id="51" name="Text 49"/>
          <p:cNvSpPr/>
          <p:nvPr/>
        </p:nvSpPr>
        <p:spPr>
          <a:xfrm>
            <a:off x="13966627" y="6291660"/>
            <a:ext cx="1541463" cy="3776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7321"/>
              </a:lnSpc>
              <a:buNone/>
            </a:pPr>
            <a:r>
              <a:rPr lang="en-US" sz="17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0.907</a:t>
            </a:r>
            <a:endParaRPr lang="en-US" sz="1725" dirty="0"/>
          </a:p>
        </p:txBody>
      </p:sp>
      <p:sp>
        <p:nvSpPr>
          <p:cNvPr id="52" name="Text 50"/>
          <p:cNvSpPr/>
          <p:nvPr/>
        </p:nvSpPr>
        <p:spPr>
          <a:xfrm>
            <a:off x="15660489" y="6291660"/>
            <a:ext cx="1541661" cy="3776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7321"/>
              </a:lnSpc>
              <a:buNone/>
            </a:pPr>
            <a:r>
              <a:rPr lang="en-US" sz="17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0.972</a:t>
            </a:r>
            <a:endParaRPr lang="en-US" sz="1725" dirty="0"/>
          </a:p>
        </p:txBody>
      </p:sp>
      <p:sp>
        <p:nvSpPr>
          <p:cNvPr id="53" name="Shape 51"/>
          <p:cNvSpPr/>
          <p:nvPr/>
        </p:nvSpPr>
        <p:spPr>
          <a:xfrm>
            <a:off x="1047750" y="6777236"/>
            <a:ext cx="16192500" cy="618927"/>
          </a:xfrm>
          <a:prstGeom prst="rect">
            <a:avLst/>
          </a:prstGeom>
          <a:gradFill rotWithShape="1">
            <a:gsLst>
              <a:gs pos="0">
                <a:srgbClr val="E6E6F2">
                  <a:alpha val="0"/>
                </a:srgbClr>
              </a:gs>
              <a:gs pos="50000">
                <a:srgbClr val="E6E6F2">
                  <a:alpha val="8000"/>
                </a:srgbClr>
              </a:gs>
              <a:gs pos="100000">
                <a:srgbClr val="E6E6F2">
                  <a:alpha val="8000"/>
                </a:srgbClr>
              </a:gs>
              <a:gs pos="100000">
                <a:srgbClr val="E6E6F2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54" name="Text 52"/>
          <p:cNvSpPr/>
          <p:nvPr/>
        </p:nvSpPr>
        <p:spPr>
          <a:xfrm>
            <a:off x="1162050" y="6910586"/>
            <a:ext cx="7726079" cy="3776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7321"/>
              </a:lnSpc>
              <a:buNone/>
            </a:pPr>
            <a:r>
              <a:rPr lang="en-US" sz="17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· deeper + BatchNorm</a:t>
            </a:r>
            <a:endParaRPr lang="en-US" sz="1725" dirty="0"/>
          </a:p>
        </p:txBody>
      </p:sp>
      <p:sp>
        <p:nvSpPr>
          <p:cNvPr id="55" name="Text 53"/>
          <p:cNvSpPr/>
          <p:nvPr/>
        </p:nvSpPr>
        <p:spPr>
          <a:xfrm>
            <a:off x="8885039" y="6910586"/>
            <a:ext cx="1541463" cy="3776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7321"/>
              </a:lnSpc>
              <a:buNone/>
            </a:pPr>
            <a:r>
              <a:rPr lang="en-US" sz="17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0.908</a:t>
            </a:r>
            <a:endParaRPr lang="en-US" sz="1725" dirty="0"/>
          </a:p>
        </p:txBody>
      </p:sp>
      <p:sp>
        <p:nvSpPr>
          <p:cNvPr id="56" name="Text 54"/>
          <p:cNvSpPr/>
          <p:nvPr/>
        </p:nvSpPr>
        <p:spPr>
          <a:xfrm>
            <a:off x="10578902" y="6910586"/>
            <a:ext cx="1541463" cy="3776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7321"/>
              </a:lnSpc>
              <a:buNone/>
            </a:pPr>
            <a:r>
              <a:rPr lang="en-US" sz="17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0.917</a:t>
            </a:r>
            <a:endParaRPr lang="en-US" sz="1725" dirty="0"/>
          </a:p>
        </p:txBody>
      </p:sp>
      <p:sp>
        <p:nvSpPr>
          <p:cNvPr id="57" name="Text 55"/>
          <p:cNvSpPr/>
          <p:nvPr/>
        </p:nvSpPr>
        <p:spPr>
          <a:xfrm>
            <a:off x="12272765" y="6910586"/>
            <a:ext cx="1541463" cy="3776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7321"/>
              </a:lnSpc>
              <a:buNone/>
            </a:pPr>
            <a:r>
              <a:rPr lang="en-US" sz="17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0.885</a:t>
            </a:r>
            <a:endParaRPr lang="en-US" sz="1725" dirty="0"/>
          </a:p>
        </p:txBody>
      </p:sp>
      <p:sp>
        <p:nvSpPr>
          <p:cNvPr id="58" name="Text 56"/>
          <p:cNvSpPr/>
          <p:nvPr/>
        </p:nvSpPr>
        <p:spPr>
          <a:xfrm>
            <a:off x="13966627" y="6910586"/>
            <a:ext cx="1541463" cy="3776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7321"/>
              </a:lnSpc>
              <a:buNone/>
            </a:pPr>
            <a:r>
              <a:rPr lang="en-US" sz="17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0.901</a:t>
            </a:r>
            <a:endParaRPr lang="en-US" sz="1725" dirty="0"/>
          </a:p>
        </p:txBody>
      </p:sp>
      <p:sp>
        <p:nvSpPr>
          <p:cNvPr id="59" name="Text 57"/>
          <p:cNvSpPr/>
          <p:nvPr/>
        </p:nvSpPr>
        <p:spPr>
          <a:xfrm>
            <a:off x="15660489" y="6910586"/>
            <a:ext cx="1541661" cy="3776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7321"/>
              </a:lnSpc>
              <a:buNone/>
            </a:pPr>
            <a:r>
              <a:rPr lang="en-US" sz="17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0.970</a:t>
            </a:r>
            <a:endParaRPr lang="en-US" sz="1725" dirty="0"/>
          </a:p>
        </p:txBody>
      </p:sp>
      <p:sp>
        <p:nvSpPr>
          <p:cNvPr id="60" name="Shape 58"/>
          <p:cNvSpPr/>
          <p:nvPr/>
        </p:nvSpPr>
        <p:spPr>
          <a:xfrm>
            <a:off x="1047750" y="7396162"/>
            <a:ext cx="16192500" cy="618927"/>
          </a:xfrm>
          <a:prstGeom prst="rect">
            <a:avLst/>
          </a:prstGeom>
          <a:gradFill rotWithShape="1">
            <a:gsLst>
              <a:gs pos="0">
                <a:srgbClr val="E6E6F2">
                  <a:alpha val="0"/>
                </a:srgbClr>
              </a:gs>
              <a:gs pos="50000">
                <a:srgbClr val="E6E6F2">
                  <a:alpha val="8000"/>
                </a:srgbClr>
              </a:gs>
              <a:gs pos="100000">
                <a:srgbClr val="E6E6F2">
                  <a:alpha val="8000"/>
                </a:srgbClr>
              </a:gs>
              <a:gs pos="100000">
                <a:srgbClr val="E6E6F2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61" name="Text 59"/>
          <p:cNvSpPr/>
          <p:nvPr/>
        </p:nvSpPr>
        <p:spPr>
          <a:xfrm>
            <a:off x="1162050" y="7529513"/>
            <a:ext cx="7726079" cy="3776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7321"/>
              </a:lnSpc>
              <a:buNone/>
            </a:pPr>
            <a:r>
              <a:rPr lang="en-US" sz="1725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· best + tuned threshold (0.56)</a:t>
            </a:r>
            <a:endParaRPr lang="en-US" sz="1725" dirty="0"/>
          </a:p>
        </p:txBody>
      </p:sp>
      <p:sp>
        <p:nvSpPr>
          <p:cNvPr id="62" name="Text 60"/>
          <p:cNvSpPr/>
          <p:nvPr/>
        </p:nvSpPr>
        <p:spPr>
          <a:xfrm>
            <a:off x="8885039" y="7529513"/>
            <a:ext cx="1541463" cy="3776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7321"/>
              </a:lnSpc>
              <a:buNone/>
            </a:pPr>
            <a:r>
              <a:rPr lang="en-US" sz="1725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0.912</a:t>
            </a:r>
            <a:endParaRPr lang="en-US" sz="1725" dirty="0"/>
          </a:p>
        </p:txBody>
      </p:sp>
      <p:sp>
        <p:nvSpPr>
          <p:cNvPr id="63" name="Text 61"/>
          <p:cNvSpPr/>
          <p:nvPr/>
        </p:nvSpPr>
        <p:spPr>
          <a:xfrm>
            <a:off x="10578902" y="7529513"/>
            <a:ext cx="1541463" cy="3776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7321"/>
              </a:lnSpc>
              <a:buNone/>
            </a:pPr>
            <a:r>
              <a:rPr lang="en-US" sz="1725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0.926</a:t>
            </a:r>
            <a:endParaRPr lang="en-US" sz="1725" dirty="0"/>
          </a:p>
        </p:txBody>
      </p:sp>
      <p:sp>
        <p:nvSpPr>
          <p:cNvPr id="64" name="Text 62"/>
          <p:cNvSpPr/>
          <p:nvPr/>
        </p:nvSpPr>
        <p:spPr>
          <a:xfrm>
            <a:off x="12272765" y="7529513"/>
            <a:ext cx="1541463" cy="3776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7321"/>
              </a:lnSpc>
              <a:buNone/>
            </a:pPr>
            <a:r>
              <a:rPr lang="en-US" sz="1725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0.885</a:t>
            </a:r>
            <a:endParaRPr lang="en-US" sz="1725" dirty="0"/>
          </a:p>
        </p:txBody>
      </p:sp>
      <p:sp>
        <p:nvSpPr>
          <p:cNvPr id="65" name="Text 63"/>
          <p:cNvSpPr/>
          <p:nvPr/>
        </p:nvSpPr>
        <p:spPr>
          <a:xfrm>
            <a:off x="13966627" y="7529513"/>
            <a:ext cx="1541463" cy="3776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7321"/>
              </a:lnSpc>
              <a:buNone/>
            </a:pPr>
            <a:r>
              <a:rPr lang="en-US" sz="1725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0.905</a:t>
            </a:r>
            <a:endParaRPr lang="en-US" sz="1725" dirty="0"/>
          </a:p>
        </p:txBody>
      </p:sp>
      <p:sp>
        <p:nvSpPr>
          <p:cNvPr id="66" name="Text 64"/>
          <p:cNvSpPr/>
          <p:nvPr/>
        </p:nvSpPr>
        <p:spPr>
          <a:xfrm>
            <a:off x="15660489" y="7529513"/>
            <a:ext cx="1541661" cy="3776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7321"/>
              </a:lnSpc>
              <a:buNone/>
            </a:pPr>
            <a:r>
              <a:rPr lang="en-US" sz="1725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0.970</a:t>
            </a:r>
            <a:endParaRPr lang="en-US" sz="1725" dirty="0"/>
          </a:p>
        </p:txBody>
      </p:sp>
      <p:sp>
        <p:nvSpPr>
          <p:cNvPr id="67" name="Text 65"/>
          <p:cNvSpPr/>
          <p:nvPr/>
        </p:nvSpPr>
        <p:spPr>
          <a:xfrm>
            <a:off x="1047750" y="8250039"/>
            <a:ext cx="16678275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800" dirty="0">
                <a:solidFill>
                  <a:srgbClr val="E9E9ED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row swaps in one change at a time — a neural head, then dropout, LR decay, Swish, class weights, more capacity, and finally a re-tuned decision threshold. None of the neural variants clearly beats the plain SVM baseline's F1 of 0.908 — deeper capacity (row 6) and threshold tuning (row 7) recover some ground but don't surpass it, suggesting the bottleneck is the fixed EfficientNet-B6 features, not the classifier head.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6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1500" spc="210" kern="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NOTEBOOK OUTPUT — EXPERIMENTS 3 &amp; 4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047750" y="1419225"/>
            <a:ext cx="17811750" cy="6963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255"/>
              </a:lnSpc>
              <a:buNone/>
            </a:pPr>
            <a:r>
              <a:rPr lang="en-US" sz="4800" spc="-72" kern="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Smoother training curves, same plateau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047750" y="4011613"/>
            <a:ext cx="7943850" cy="3121819"/>
          </a:xfrm>
          <a:prstGeom prst="roundRect">
            <a:avLst>
              <a:gd name="adj" fmla="val 4272"/>
            </a:avLst>
          </a:prstGeom>
          <a:solidFill>
            <a:srgbClr val="FFFF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750" y="4011613"/>
            <a:ext cx="7943850" cy="312181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296400" y="3975894"/>
            <a:ext cx="7943850" cy="3193256"/>
          </a:xfrm>
          <a:prstGeom prst="roundRect">
            <a:avLst>
              <a:gd name="adj" fmla="val 4176"/>
            </a:avLst>
          </a:prstGeom>
          <a:solidFill>
            <a:srgbClr val="FFFFFF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6400" y="3975894"/>
            <a:ext cx="7943850" cy="319325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47750" y="8839200"/>
            <a:ext cx="1667827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800" dirty="0">
                <a:solidFill>
                  <a:srgbClr val="E9E9ED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Cosine LR decay and Swish activation both tighten the accuracy/loss curves — val loss stops climbing as sharply — but F1 stays within a point of the baseline (0.896 and 0.904).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6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1500" spc="210" kern="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NOTEBOOK OUTPUT — EXPERIMENTS 5 &amp; 6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047750" y="1419225"/>
            <a:ext cx="17811750" cy="6963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255"/>
              </a:lnSpc>
              <a:buNone/>
            </a:pPr>
            <a:r>
              <a:rPr lang="en-US" sz="4800" spc="-72" kern="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Chasing recall with weights and capacity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047750" y="3542903"/>
            <a:ext cx="7943850" cy="4059238"/>
          </a:xfrm>
          <a:prstGeom prst="roundRect">
            <a:avLst>
              <a:gd name="adj" fmla="val 3285"/>
            </a:avLst>
          </a:prstGeom>
          <a:solidFill>
            <a:srgbClr val="FFFF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750" y="3542903"/>
            <a:ext cx="7943850" cy="405923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296400" y="3384153"/>
            <a:ext cx="7943850" cy="4376936"/>
          </a:xfrm>
          <a:prstGeom prst="roundRect">
            <a:avLst>
              <a:gd name="adj" fmla="val 3047"/>
            </a:avLst>
          </a:prstGeom>
          <a:solidFill>
            <a:srgbClr val="FFFFFF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6400" y="3384153"/>
            <a:ext cx="7943850" cy="437693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47750" y="8839200"/>
            <a:ext cx="1667827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800" dirty="0">
                <a:solidFill>
                  <a:srgbClr val="E9E9ED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Weighting the morph class 2.5× lifts recall to 0.903, its best value yet. Adding a deeper BatchNorm head (512→128 units) doesn't push further — accuracy and F1 both dip slightly, a sign the extra capacity isn't the bottleneck.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6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1500" spc="210" kern="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NOTEBOOK OUTPUT — PROGRESS ACROSS ALL EXPERIMENTS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047750" y="1419225"/>
            <a:ext cx="17811750" cy="6963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255"/>
              </a:lnSpc>
              <a:buNone/>
            </a:pPr>
            <a:r>
              <a:rPr lang="en-US" sz="4800" spc="-72" kern="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SVM baseline is hard to beat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047750" y="2920008"/>
            <a:ext cx="7229674" cy="6181527"/>
          </a:xfrm>
          <a:prstGeom prst="roundRect">
            <a:avLst>
              <a:gd name="adj" fmla="val 2157"/>
            </a:avLst>
          </a:prstGeom>
          <a:solidFill>
            <a:srgbClr val="FFFF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750" y="2920008"/>
            <a:ext cx="7229674" cy="618152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734624" y="4815285"/>
            <a:ext cx="8760796" cy="1323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808"/>
              </a:lnSpc>
              <a:buNone/>
            </a:pPr>
            <a:r>
              <a:rPr lang="en-US" sz="2250" dirty="0">
                <a:solidFill>
                  <a:srgbClr val="E9E9ED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Tracking accuracy, F1 and recall across all seven variants, the line chart shows recall dipping hardest under plain dropout, then climbing back once class weights and extra capacity are added.</a:t>
            </a:r>
            <a:endParaRPr lang="en-US" sz="2250" dirty="0"/>
          </a:p>
        </p:txBody>
      </p:sp>
      <p:sp>
        <p:nvSpPr>
          <p:cNvPr id="7" name="Text 4"/>
          <p:cNvSpPr/>
          <p:nvPr/>
        </p:nvSpPr>
        <p:spPr>
          <a:xfrm>
            <a:off x="8734624" y="6348810"/>
            <a:ext cx="8760796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808"/>
              </a:lnSpc>
              <a:buNone/>
            </a:pPr>
            <a:r>
              <a:rPr lang="en-US" sz="2250" dirty="0">
                <a:solidFill>
                  <a:srgbClr val="E9E9ED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F1, the notebook's own comparison still ranks </a:t>
            </a:r>
            <a:pPr algn="l" indent="0" marL="0">
              <a:lnSpc>
                <a:spcPct val="129808"/>
              </a:lnSpc>
              <a:buNone/>
            </a:pPr>
            <a:r>
              <a:rPr lang="en-US" sz="2250" b="1" dirty="0">
                <a:solidFill>
                  <a:srgbClr val="E9E9ED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 0 — the original SVM baseline </a:t>
            </a:r>
            <a:pPr algn="l" indent="0" marL="0">
              <a:lnSpc>
                <a:spcPct val="129808"/>
              </a:lnSpc>
              <a:buNone/>
            </a:pPr>
            <a:r>
              <a:rPr lang="en-US" sz="2250" dirty="0">
                <a:solidFill>
                  <a:srgbClr val="E9E9ED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as the best model overall.</a:t>
            </a:r>
            <a:endParaRPr lang="en-US" sz="2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6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1500" spc="210" kern="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NOTEBOOK OUTPUT — FINAL STEP: THRESHOLD TUNING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047750" y="1419225"/>
            <a:ext cx="17811750" cy="6963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255"/>
              </a:lnSpc>
              <a:buNone/>
            </a:pPr>
            <a:r>
              <a:rPr lang="en-US" sz="4800" spc="-72" kern="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Moving the cutoff from 0.50 to 0.56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047750" y="3166269"/>
            <a:ext cx="6743700" cy="5688806"/>
          </a:xfrm>
          <a:prstGeom prst="roundRect">
            <a:avLst>
              <a:gd name="adj" fmla="val 2344"/>
            </a:avLst>
          </a:prstGeom>
          <a:solidFill>
            <a:srgbClr val="FFFF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750" y="3166269"/>
            <a:ext cx="6743700" cy="568880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48650" y="4600972"/>
            <a:ext cx="9261348" cy="1323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808"/>
              </a:lnSpc>
              <a:buNone/>
            </a:pPr>
            <a:r>
              <a:rPr lang="en-US" sz="2250" dirty="0">
                <a:solidFill>
                  <a:srgbClr val="E9E9ED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best neural model still used a plain 0.5 cutoff. Sweeping thresholds on the </a:t>
            </a:r>
            <a:pPr algn="l" indent="0" marL="0">
              <a:lnSpc>
                <a:spcPct val="129808"/>
              </a:lnSpc>
              <a:buNone/>
            </a:pPr>
            <a:r>
              <a:rPr lang="en-US" sz="2250" b="1" dirty="0">
                <a:solidFill>
                  <a:srgbClr val="E9E9ED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</a:t>
            </a:r>
            <a:pPr algn="l" indent="0" marL="0">
              <a:lnSpc>
                <a:spcPct val="129808"/>
              </a:lnSpc>
              <a:buNone/>
            </a:pPr>
            <a:r>
              <a:rPr lang="en-US" sz="2250" dirty="0">
                <a:solidFill>
                  <a:srgbClr val="E9E9ED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and picking the one that maximizes F1 lands on </a:t>
            </a:r>
            <a:pPr algn="l" indent="0" marL="0">
              <a:lnSpc>
                <a:spcPct val="129808"/>
              </a:lnSpc>
              <a:buNone/>
            </a:pPr>
            <a:r>
              <a:rPr lang="en-US" sz="2250" b="1" dirty="0">
                <a:solidFill>
                  <a:srgbClr val="E9E9ED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0.56</a:t>
            </a:r>
            <a:pPr algn="l" indent="0" marL="0">
              <a:lnSpc>
                <a:spcPct val="129808"/>
              </a:lnSpc>
              <a:buNone/>
            </a:pPr>
            <a:r>
              <a:rPr lang="en-US" sz="2250" dirty="0">
                <a:solidFill>
                  <a:srgbClr val="E9E9ED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250" dirty="0"/>
          </a:p>
        </p:txBody>
      </p:sp>
      <p:sp>
        <p:nvSpPr>
          <p:cNvPr id="7" name="Text 4"/>
          <p:cNvSpPr/>
          <p:nvPr/>
        </p:nvSpPr>
        <p:spPr>
          <a:xfrm>
            <a:off x="8248650" y="6134497"/>
            <a:ext cx="9261348" cy="1323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808"/>
              </a:lnSpc>
              <a:buNone/>
            </a:pPr>
            <a:r>
              <a:rPr lang="en-US" sz="2250" dirty="0">
                <a:solidFill>
                  <a:srgbClr val="E9E9ED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test confusion matrix: </a:t>
            </a:r>
            <a:pPr algn="l" indent="0" marL="0">
              <a:lnSpc>
                <a:spcPct val="129808"/>
              </a:lnSpc>
              <a:buNone/>
            </a:pPr>
            <a:r>
              <a:rPr lang="en-US" sz="2250" b="1" dirty="0">
                <a:solidFill>
                  <a:srgbClr val="E9E9ED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119 real correctly kept, 8 real misflagged, 13 morphs missed, 100 morphs caught </a:t>
            </a:r>
            <a:pPr algn="l" indent="0" marL="0">
              <a:lnSpc>
                <a:spcPct val="129808"/>
              </a:lnSpc>
              <a:buNone/>
            </a:pPr>
            <a:r>
              <a:rPr lang="en-US" sz="2250" dirty="0">
                <a:solidFill>
                  <a:srgbClr val="E9E9ED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acc 0.912, precision 0.926, recall 0.885, F1 0.905, AUC 0.970.</a:t>
            </a:r>
            <a:endParaRPr lang="en-US" sz="2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6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1500" spc="210" kern="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047750" y="1419225"/>
            <a:ext cx="16678275" cy="13545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255"/>
              </a:lnSpc>
              <a:buNone/>
            </a:pPr>
            <a:r>
              <a:rPr lang="en-US" sz="4800" spc="-72" kern="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reproduction matches — and edges past — the paper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047750" y="4911923"/>
            <a:ext cx="16192500" cy="549672"/>
          </a:xfrm>
          <a:prstGeom prst="rect">
            <a:avLst/>
          </a:prstGeom>
          <a:gradFill rotWithShape="1">
            <a:gsLst>
              <a:gs pos="0">
                <a:srgbClr val="E6E6EC">
                  <a:alpha val="0"/>
                </a:srgbClr>
              </a:gs>
              <a:gs pos="50000">
                <a:srgbClr val="E6E6EC">
                  <a:alpha val="16000"/>
                </a:srgbClr>
              </a:gs>
              <a:gs pos="100000">
                <a:srgbClr val="E6E6EC">
                  <a:alpha val="16000"/>
                </a:srgbClr>
              </a:gs>
              <a:gs pos="100000">
                <a:srgbClr val="E6E6EC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5" name="Text 3"/>
          <p:cNvSpPr/>
          <p:nvPr/>
        </p:nvSpPr>
        <p:spPr>
          <a:xfrm>
            <a:off x="1238250" y="5102423"/>
            <a:ext cx="6761635" cy="1940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2083"/>
              </a:lnSpc>
              <a:buNone/>
            </a:pPr>
            <a:r>
              <a:rPr lang="en-US" sz="825" b="1" spc="66" kern="0" dirty="0">
                <a:solidFill>
                  <a:srgbClr val="E9E9ED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8172847" y="5102423"/>
            <a:ext cx="1669852" cy="1940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2083"/>
              </a:lnSpc>
              <a:buNone/>
            </a:pPr>
            <a:r>
              <a:rPr lang="en-US" sz="825" b="1" spc="66" kern="0" dirty="0">
                <a:solidFill>
                  <a:srgbClr val="E9E9ED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10147499" y="5102423"/>
            <a:ext cx="1515864" cy="1940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2083"/>
              </a:lnSpc>
              <a:buNone/>
            </a:pPr>
            <a:r>
              <a:rPr lang="en-US" sz="825" b="1" spc="66" kern="0" dirty="0">
                <a:solidFill>
                  <a:srgbClr val="E9E9ED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11968163" y="5102423"/>
            <a:ext cx="1515864" cy="1940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2083"/>
              </a:lnSpc>
              <a:buNone/>
            </a:pPr>
            <a:r>
              <a:rPr lang="en-US" sz="825" b="1" spc="66" kern="0" dirty="0">
                <a:solidFill>
                  <a:srgbClr val="E9E9ED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13788827" y="5102423"/>
            <a:ext cx="1515864" cy="1940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2083"/>
              </a:lnSpc>
              <a:buNone/>
            </a:pPr>
            <a:r>
              <a:rPr lang="en-US" sz="825" b="1" spc="66" kern="0" dirty="0">
                <a:solidFill>
                  <a:srgbClr val="E9E9ED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15609491" y="5102423"/>
            <a:ext cx="1516459" cy="1940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42083"/>
              </a:lnSpc>
              <a:buNone/>
            </a:pPr>
            <a:r>
              <a:rPr lang="en-US" sz="825" b="1" spc="66" kern="0" dirty="0">
                <a:solidFill>
                  <a:srgbClr val="E9E9ED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ROC-AUC</a:t>
            </a:r>
            <a:endParaRPr lang="en-US" sz="825" dirty="0"/>
          </a:p>
        </p:txBody>
      </p:sp>
      <p:sp>
        <p:nvSpPr>
          <p:cNvPr id="11" name="Shape 9"/>
          <p:cNvSpPr/>
          <p:nvPr/>
        </p:nvSpPr>
        <p:spPr>
          <a:xfrm>
            <a:off x="1047750" y="5461596"/>
            <a:ext cx="16192500" cy="845145"/>
          </a:xfrm>
          <a:prstGeom prst="rect">
            <a:avLst/>
          </a:prstGeom>
          <a:gradFill rotWithShape="1">
            <a:gsLst>
              <a:gs pos="0">
                <a:srgbClr val="E6E6F2">
                  <a:alpha val="0"/>
                </a:srgbClr>
              </a:gs>
              <a:gs pos="50000">
                <a:srgbClr val="E6E6F2">
                  <a:alpha val="8000"/>
                </a:srgbClr>
              </a:gs>
              <a:gs pos="100000">
                <a:srgbClr val="E6E6F2">
                  <a:alpha val="8000"/>
                </a:srgbClr>
              </a:gs>
              <a:gs pos="100000">
                <a:srgbClr val="E6E6F2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12" name="Text 10"/>
          <p:cNvSpPr/>
          <p:nvPr/>
        </p:nvSpPr>
        <p:spPr>
          <a:xfrm>
            <a:off x="1238250" y="5671146"/>
            <a:ext cx="6761635" cy="4514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625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(Gawade et al., Table 2)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8172847" y="5671146"/>
            <a:ext cx="1669852" cy="4514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625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89.9%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0147499" y="5671146"/>
            <a:ext cx="1515864" cy="4514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625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0.90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1968163" y="5671146"/>
            <a:ext cx="1515864" cy="4514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625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0.90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3788827" y="5671146"/>
            <a:ext cx="1515864" cy="4514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625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0.90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5609491" y="5671146"/>
            <a:ext cx="1516459" cy="4514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625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0.965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1047750" y="6306741"/>
            <a:ext cx="16192500" cy="845145"/>
          </a:xfrm>
          <a:prstGeom prst="rect">
            <a:avLst/>
          </a:prstGeom>
          <a:gradFill rotWithShape="1">
            <a:gsLst>
              <a:gs pos="0">
                <a:srgbClr val="E6E6F2">
                  <a:alpha val="0"/>
                </a:srgbClr>
              </a:gs>
              <a:gs pos="50000">
                <a:srgbClr val="E6E6F2">
                  <a:alpha val="8000"/>
                </a:srgbClr>
              </a:gs>
              <a:gs pos="100000">
                <a:srgbClr val="E6E6F2">
                  <a:alpha val="8000"/>
                </a:srgbClr>
              </a:gs>
              <a:gs pos="100000">
                <a:srgbClr val="E6E6F2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19" name="Text 17"/>
          <p:cNvSpPr/>
          <p:nvPr/>
        </p:nvSpPr>
        <p:spPr>
          <a:xfrm>
            <a:off x="1238250" y="6516291"/>
            <a:ext cx="6761635" cy="4514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625"/>
              </a:lnSpc>
              <a:buNone/>
            </a:pPr>
            <a:r>
              <a:rPr lang="en-US" sz="210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implementation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8172847" y="6516291"/>
            <a:ext cx="1669852" cy="4514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625"/>
              </a:lnSpc>
              <a:buNone/>
            </a:pPr>
            <a:r>
              <a:rPr lang="en-US" sz="210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91.7%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10147499" y="6516291"/>
            <a:ext cx="1515864" cy="4514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625"/>
              </a:lnSpc>
              <a:buNone/>
            </a:pPr>
            <a:r>
              <a:rPr lang="en-US" sz="210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0.951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1968163" y="6516291"/>
            <a:ext cx="1515864" cy="4514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625"/>
              </a:lnSpc>
              <a:buNone/>
            </a:pPr>
            <a:r>
              <a:rPr lang="en-US" sz="210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0.867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13788827" y="6516291"/>
            <a:ext cx="1515864" cy="4514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625"/>
              </a:lnSpc>
              <a:buNone/>
            </a:pPr>
            <a:r>
              <a:rPr lang="en-US" sz="210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0.907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15609491" y="6516291"/>
            <a:ext cx="1516459" cy="4514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5625"/>
              </a:lnSpc>
              <a:buNone/>
            </a:pPr>
            <a:r>
              <a:rPr lang="en-US" sz="210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0.967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1047750" y="9182100"/>
            <a:ext cx="1781175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1800" dirty="0">
                <a:solidFill>
                  <a:srgbClr val="E9E9ED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on our FFHQ + landmark-morph test set, with the same DEMO-scale pipeline (900 real / 700 morph) described in the notebook.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32532">
                  <a:alpha val="100000"/>
                </a:srgbClr>
              </a:gs>
              <a:gs pos="65000">
                <a:srgbClr val="161826">
                  <a:alpha val="100000"/>
                </a:srgbClr>
              </a:gs>
            </a:gsLst>
            <a:path path="circle">
              <a:fillToRect l="15000" t="10000" r="85000" b="9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047750" y="3318867"/>
            <a:ext cx="178117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765"/>
              </a:lnSpc>
              <a:buNone/>
            </a:pPr>
            <a:r>
              <a:rPr lang="en-US" sz="1500" spc="210" kern="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47750" y="3785592"/>
            <a:ext cx="17811750" cy="6963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255"/>
              </a:lnSpc>
              <a:buNone/>
            </a:pPr>
            <a:r>
              <a:rPr lang="en-US" sz="4800" spc="-72" kern="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built the attack, then the defense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047750" y="4634310"/>
            <a:ext cx="11576685" cy="152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706"/>
              </a:lnSpc>
              <a:buNone/>
            </a:pPr>
            <a:r>
              <a:rPr lang="en-US" sz="3000" dirty="0">
                <a:solidFill>
                  <a:srgbClr val="EAEAEE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landmark-based morphing pipeline that generates convincing identity blends, and a reproduced detector that catches them slightly better than the original paper.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047750" y="6729810"/>
            <a:ext cx="1981121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808"/>
              </a:lnSpc>
              <a:buNone/>
            </a:pPr>
            <a:r>
              <a:rPr lang="en-US" sz="2250" dirty="0">
                <a:solidFill>
                  <a:srgbClr val="E9E9ED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Yousef Yousef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3382169" y="6729810"/>
            <a:ext cx="1939647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808"/>
              </a:lnSpc>
              <a:buNone/>
            </a:pPr>
            <a:r>
              <a:rPr lang="en-US" sz="2250" dirty="0">
                <a:solidFill>
                  <a:srgbClr val="E9E9ED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Atheer Azaiza</a:t>
            </a:r>
            <a:endParaRPr lang="en-US" sz="2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2026-07-19T18:10:32Z</dcterms:created>
  <dcterms:modified xsi:type="dcterms:W3CDTF">2026-07-19T18:10:32Z</dcterms:modified>
</cp:coreProperties>
</file>